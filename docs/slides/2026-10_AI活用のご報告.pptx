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7ed0d765-502a-42ac-5f98-5f11e80740cb}">
          <p14:sldIdLst>
            <p14:sldId id="256"/>
            <p14:sldId id="257"/>
          </p14:sldIdLst>
        </p14:section>
        <p14:section name="Q1 どう構築した" id="{14644e76-99cf-e1eb-f4d4-5f5f56696c8e}">
          <p14:sldIdLst>
            <p14:sldId id="258"/>
            <p14:sldId id="259"/>
            <p14:sldId id="260"/>
          </p14:sldIdLst>
        </p14:section>
        <p14:section name="Q2 何が変わった" id="{9d9739bc-8eb0-d896-0210-6ac8419380fb}">
          <p14:sldIdLst>
            <p14:sldId id="261"/>
            <p14:sldId id="262"/>
            <p14:sldId id="263"/>
            <p14:sldId id="264"/>
          </p14:sldIdLst>
        </p14:section>
        <p14:section name="Q3 どう広げる" id="{8c62dac9-89e2-cd8c-686a-030ec38035a3}">
          <p14:sldIdLst>
            <p14:sldId id="265"/>
            <p14:sldId id="266"/>
          </p14:sldIdLst>
        </p14:section>
        <p14:section name="まとめ" id="{aefac28a-4a59-9c5d-0f00-b77a2d69f4a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AIをどう使っているかをご報告します。お答えしたいのは3つ、AIの仕組みをどう構築したか、それで何が実現できたか、これからどう広げるかです。ひとことで言うと、エージェントの組織に作業をしてもらった、という話です。まとめる力は最高ですが、そのぶん判断待ちが膨大になりました。右の図は、指示の束が振り分け役の人事部に届き、適切な部署、つまりチームへ渡されて片付いていく様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3つの問いにお答えします。1つ目、AIの仕組みをどう構築したか。皆さんは仕事の中身をご存じなので、ここでは作り方に絞ってお話しします。2つ目、それで何が実現できたか。3つ目、これからどう広げるか。特に3つ目では、皆さんの判断を集める仕組みについてお力を借り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どう構築したか。いまやっているのは、開発業務の導入の負担を軽くすることで、SESの常駐先で作った開発ツールです。エージェント集団は4つの段で作りました。まず単発のエージェント。次にそれを束ねた複数のエージェント。さらに、割り振りや制御、管理をする人事部。最後に、チームの働き方に助言するアドバイザー、いわばコンサルです。ここには絶対に守るルールを1つ置いています。矛盾などの判断は、必ず人間が行うこと。そのうえで目指しているのは、機能担当の中心で動くシステム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ージェントの組織ができるまでを、時系列でお話しします。最初の段は単発のエージェントです。たとえば、仕様書を読み込んで要点や論点をまとめる。ソースを解析して、構成や処理の流れを図にする。こうした仕事を1つずつエージェントにして、1体ずつ単発で動かすところから始め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単発で動かしたエージェントを束ねて、チームにしました。複数のエージェントで分担し、その上に割り振りや管理をする人事部を置いています。動きはこうです。人が指示を出す。人事部が読んで担当の部署へ振り分ける。各エージェントが得意分野、つまりスキルで分けて作業する。そして、結果と、人が決めるべき判断が返って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現できたことです。チームを組んだことで、AIが結果まで出すようになりました。これまでは、人がソースを読み、仕様書を読み、実装を検討し、タスクに分け、工程を組んでいました。いまはAIのチームに依頼を出すと、AIがソースと仕様書を読み込み、実装の検討、タスク分け、工程まで自動で出してくれます。ソースや仕様書を全部読まなくても段取りが出てくるので、人は出てきた案を判断することに集中できるようにな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チームは、約5000ものアイテムを読み込みました。読み込みや整理まではAIが進めてくれますが、矛盾など、人が判断しなければならないものが800件残りました。AIは止まらず働けるのに、人の判断を待って止まる。ここが新しい詰まり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こで、アドバイザー、いわばコンサルを置きました。1つは判断のアドバイザーです。判断しやすい材料とは何かを考え、人が決めやすい形にそろえます。もう1つはAI活用のアドバイザーです。エージェントやスキルの使い方を見て、AIを使いこなすための助言をします。図のように、1体のアドバイザーが複数のチームに助言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の気づきは、AIは答えを知っているとよく働く、ということです。答えさえ分かれば、AIは自分で判断して動き続けられます。ところが、その答えの多くは、経験や感覚として人の頭の中にある暗黙知です。判断したことを伝え、残すことで、それは形式知、つまりAIが答えとして使える知識になります。答えを知るために、人が持っている暗黙知を形式知にする必要がある。これが一番お伝えしたい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こで、これからつくりたいのがMCPです。MCPは、AIが外部の道具やデータを共通の方法で使うための仕組みです。まずMCPで、みんなのAIと判断の置き場をつなぎます。次に、AIを使って判断した形式知を一か所に集めます。そして集めた判断を、エージェントが次の判断に使います。そうすれば、判断待ちで止まることなくエージェントが動き続け、効率化につながる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MCPで知識を集めたら、ゆくゆくはそれを使って、自動で回り続ける仕組みにしたいと考えています。参考にするのが MAPE-K という型です。IBMが自律的に動くシステムのために提唱したもので、監視・分析・計画・実行の4つを、真ん中の知識を使いながらぐるぐる回します。図の1周目は、計画の段階で知識に答えがあるので、そのまま実行まで進みます。2周目は知識に答えがないので、人に聞きます。人が判断すると、その判断が知識に入り、次からは聞かずに済みます。人は『AIが知らないことだけ』判断すればよくなる、というのが狙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エージェントの組織に作業をしてもらい、結果まで出るようになりました。一方で、人の判断が必要なものが800件残りました。AIを扱う人の知見はまだ浅いので、一気には広げません。まず社内の他部署や開発・制作の現場で小さく使い始め、そこで生まれた判断を形式知にしてMCPで一か所に集めます。その行く末が、MAPE-Kのループで自分で回り続ける自動化です。お願いとして、AIに聞かれたら、判断の理由もひとことだけ添えてください。それがそのまま会社の知識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2B4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chemeClr val="accent6"/>
                </a:solidFill>
              </a:rPr>
              <a:t>株式会社ノック ｜ AIの使い方</a:t>
            </a:r>
            <a:endParaRPr lang="en-US" sz="900" dirty="0"/>
          </a:p>
        </p:txBody>
      </p:sp>
      <p:sp>
        <p:nvSpPr>
          <p:cNvPr id="3" name="Text 1"/>
          <p:cNvSpPr/>
          <p:nvPr>
            <p:ph idx="101" type="title" hasCustomPrompt="1"/>
          </p:nvPr>
        </p:nvSpPr>
        <p:spPr>
          <a:xfrm>
            <a:off x="457200" y="320040"/>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F2B4C"/>
        </a:solidFill>
      </p:bgPr>
    </p:bg>
    <p:spTree>
      <p:nvGrpSpPr>
        <p:cNvPr id="1" name=""/>
        <p:cNvGrpSpPr/>
        <p:nvPr/>
      </p:nvGrpSpPr>
      <p:grpSpPr>
        <a:xfrm>
          <a:off x="0" y="0"/>
          <a:ext cx="0" cy="0"/>
          <a:chOff x="0" y="0"/>
          <a:chExt cx="0" cy="0"/>
        </a:xfrm>
      </p:grpSpPr>
      <p:sp>
        <p:nvSpPr>
          <p:cNvPr id="2"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chemeClr val="accent3"/>
                </a:solidFill>
              </a:rPr>
              <a:t>株式会社ノック ｜ AIの使い方</a:t>
            </a:r>
            <a:endParaRPr lang="en-US" sz="900" dirty="0"/>
          </a:p>
        </p:txBody>
      </p:sp>
      <p:sp>
        <p:nvSpPr>
          <p:cNvPr id="3" name="Text 1"/>
          <p:cNvSpPr/>
          <p:nvPr>
            <p:ph idx="101" type="title" hasCustomPrompt="1"/>
          </p:nvPr>
        </p:nvSpPr>
        <p:spPr>
          <a:xfrm>
            <a:off x="457200" y="320040"/>
            <a:ext cx="8229600" cy="64008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gif"/><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gif"/><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60120"/>
            <a:ext cx="41148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AI 活用のご報告</a:t>
            </a:r>
            <a:endParaRPr lang="en-US" sz="1200" dirty="0"/>
          </a:p>
        </p:txBody>
      </p:sp>
      <p:sp>
        <p:nvSpPr>
          <p:cNvPr id="3" name="Text 1"/>
          <p:cNvSpPr txBox="1"/>
          <p:nvPr/>
        </p:nvSpPr>
        <p:spPr>
          <a:xfrm>
            <a:off x="548640" y="1325880"/>
            <a:ext cx="4206240" cy="1371600"/>
          </a:xfrm>
          <a:prstGeom prst="rect">
            <a:avLst/>
          </a:prstGeom>
          <a:noFill/>
          <a:ln/>
        </p:spPr>
        <p:txBody>
          <a:bodyPr wrap="square" lIns="0" tIns="0" rIns="0" bIns="0" rtlCol="0" anchor="t"/>
          <a:lstStyle/>
          <a:p>
            <a:pPr indent="0" marL="0">
              <a:lnSpc>
                <a:spcPct val="110000"/>
              </a:lnSpc>
              <a:buNone/>
            </a:pPr>
            <a:r>
              <a:rPr lang="en-US" sz="3000" b="1" dirty="0">
                <a:solidFill>
                  <a:schemeClr val="bg1"/>
                </a:solidFill>
              </a:rPr>
              <a:t>エージェント組織に</a:t>
            </a:r>
            <a:endParaRPr lang="en-US" sz="3000" dirty="0"/>
          </a:p>
          <a:p>
            <a:pPr indent="0" marL="0">
              <a:lnSpc>
                <a:spcPct val="110000"/>
              </a:lnSpc>
              <a:buNone/>
            </a:pPr>
            <a:r>
              <a:rPr lang="en-US" sz="3000" b="1" dirty="0">
                <a:solidFill>
                  <a:schemeClr val="bg1"/>
                </a:solidFill>
              </a:rPr>
              <a:t>作業をしてもらった</a:t>
            </a:r>
            <a:endParaRPr lang="en-US" sz="3000" dirty="0"/>
          </a:p>
        </p:txBody>
      </p:sp>
      <p:sp>
        <p:nvSpPr>
          <p:cNvPr id="4" name="Text 2"/>
          <p:cNvSpPr txBox="1"/>
          <p:nvPr/>
        </p:nvSpPr>
        <p:spPr>
          <a:xfrm>
            <a:off x="548640" y="2788920"/>
            <a:ext cx="4206240" cy="731520"/>
          </a:xfrm>
          <a:prstGeom prst="rect">
            <a:avLst/>
          </a:prstGeom>
          <a:noFill/>
          <a:ln/>
        </p:spPr>
        <p:txBody>
          <a:bodyPr wrap="square" lIns="0" tIns="0" rIns="0" bIns="0" rtlCol="0" anchor="t"/>
          <a:lstStyle/>
          <a:p>
            <a:pPr indent="0" marL="0">
              <a:lnSpc>
                <a:spcPct val="120000"/>
              </a:lnSpc>
              <a:buNone/>
            </a:pPr>
            <a:r>
              <a:rPr lang="en-US" sz="1600" b="1" dirty="0">
                <a:solidFill>
                  <a:schemeClr val="accent3"/>
                </a:solidFill>
              </a:rPr>
              <a:t>まとめは最高。</a:t>
            </a:r>
            <a:endParaRPr lang="en-US" sz="1600" dirty="0"/>
          </a:p>
          <a:p>
            <a:pPr indent="0" marL="0">
              <a:lnSpc>
                <a:spcPct val="120000"/>
              </a:lnSpc>
              <a:buNone/>
            </a:pPr>
            <a:r>
              <a:rPr lang="en-US" sz="1600" b="1" dirty="0">
                <a:solidFill>
                  <a:schemeClr val="accent3"/>
                </a:solidFill>
              </a:rPr>
              <a:t>だけど、判断待ちが膨大に</a:t>
            </a:r>
            <a:endParaRPr lang="en-US" sz="1600" dirty="0"/>
          </a:p>
        </p:txBody>
      </p:sp>
      <p:sp>
        <p:nvSpPr>
          <p:cNvPr id="5" name="Text 3"/>
          <p:cNvSpPr txBox="1"/>
          <p:nvPr/>
        </p:nvSpPr>
        <p:spPr>
          <a:xfrm>
            <a:off x="548640" y="4251960"/>
            <a:ext cx="2743200" cy="274320"/>
          </a:xfrm>
          <a:prstGeom prst="rect">
            <a:avLst/>
          </a:prstGeom>
          <a:noFill/>
          <a:ln/>
        </p:spPr>
        <p:txBody>
          <a:bodyPr wrap="square" lIns="0" tIns="0" rIns="0" bIns="0" rtlCol="0" anchor="ctr"/>
          <a:lstStyle/>
          <a:p>
            <a:pPr indent="0" marL="0">
              <a:buNone/>
            </a:pPr>
            <a:r>
              <a:rPr lang="en-US" sz="1100" dirty="0">
                <a:solidFill>
                  <a:schemeClr val="accent3"/>
                </a:solidFill>
              </a:rPr>
              <a:t>株式会社ノック</a:t>
            </a:r>
            <a:endParaRPr lang="en-US" sz="1100" dirty="0"/>
          </a:p>
        </p:txBody>
      </p:sp>
      <p:sp>
        <p:nvSpPr>
          <p:cNvPr id="6" name="Shape 4"/>
          <p:cNvSpPr/>
          <p:nvPr/>
        </p:nvSpPr>
        <p:spPr>
          <a:xfrm>
            <a:off x="4434840" y="685800"/>
            <a:ext cx="4343400" cy="3611880"/>
          </a:xfrm>
          <a:prstGeom prst="roundRect">
            <a:avLst>
              <a:gd name="adj" fmla="val 2025"/>
            </a:avLst>
          </a:prstGeom>
          <a:solidFill>
            <a:srgbClr val="FFFFFF"/>
          </a:solidFill>
          <a:ln w="9525">
            <a:solidFill>
              <a:srgbClr val="FFFFFF"/>
            </a:solidFill>
            <a:prstDash val="solid"/>
          </a:ln>
        </p:spPr>
      </p:sp>
      <p:pic>
        <p:nvPicPr>
          <p:cNvPr id="7" name="Image 0" descr="org">    </p:cNvPr>
          <p:cNvPicPr>
            <a:picLocks noChangeAspect="1"/>
          </p:cNvPicPr>
          <p:nvPr/>
        </p:nvPicPr>
        <p:blipFill>
          <a:blip r:embed="rId1"/>
          <a:stretch>
            <a:fillRect/>
          </a:stretch>
        </p:blipFill>
        <p:spPr>
          <a:xfrm>
            <a:off x="4572000" y="868680"/>
            <a:ext cx="4069080" cy="29768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AGENDA</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今日お答えする3つの問い</a:t>
            </a:r>
            <a:endParaRPr lang="en-US" sz="2600" dirty="0"/>
          </a:p>
        </p:txBody>
      </p:sp>
      <p:sp>
        <p:nvSpPr>
          <p:cNvPr id="4" name="Shape 2"/>
          <p:cNvSpPr/>
          <p:nvPr/>
        </p:nvSpPr>
        <p:spPr>
          <a:xfrm>
            <a:off x="457200" y="1234440"/>
            <a:ext cx="2596896" cy="3154680"/>
          </a:xfrm>
          <a:prstGeom prst="roundRect">
            <a:avLst>
              <a:gd name="adj" fmla="val 2817"/>
            </a:avLst>
          </a:prstGeom>
          <a:solidFill>
            <a:srgbClr val="EEF4FB"/>
          </a:solidFill>
          <a:ln w="9525">
            <a:solidFill>
              <a:srgbClr val="EEF4FB"/>
            </a:solidFill>
            <a:prstDash val="solid"/>
          </a:ln>
        </p:spPr>
      </p:sp>
      <p:sp>
        <p:nvSpPr>
          <p:cNvPr id="5" name="Text 3"/>
          <p:cNvSpPr txBox="1"/>
          <p:nvPr/>
        </p:nvSpPr>
        <p:spPr>
          <a:xfrm>
            <a:off x="731520" y="1463040"/>
            <a:ext cx="1371600" cy="640080"/>
          </a:xfrm>
          <a:prstGeom prst="rect">
            <a:avLst/>
          </a:prstGeom>
          <a:noFill/>
          <a:ln/>
        </p:spPr>
        <p:txBody>
          <a:bodyPr wrap="square" lIns="0" tIns="0" rIns="0" bIns="0" rtlCol="0" anchor="ctr"/>
          <a:lstStyle/>
          <a:p>
            <a:pPr indent="0" marL="0">
              <a:buNone/>
            </a:pPr>
            <a:r>
              <a:rPr lang="en-US" sz="3600" b="1" dirty="0">
                <a:solidFill>
                  <a:schemeClr val="accent1"/>
                </a:solidFill>
              </a:rPr>
              <a:t>Q1</a:t>
            </a:r>
            <a:endParaRPr lang="en-US" sz="3600" dirty="0"/>
          </a:p>
        </p:txBody>
      </p:sp>
      <p:sp>
        <p:nvSpPr>
          <p:cNvPr id="6" name="Text 4"/>
          <p:cNvSpPr txBox="1"/>
          <p:nvPr/>
        </p:nvSpPr>
        <p:spPr>
          <a:xfrm>
            <a:off x="731520" y="2148840"/>
            <a:ext cx="2103120" cy="228600"/>
          </a:xfrm>
          <a:prstGeom prst="rect">
            <a:avLst/>
          </a:prstGeom>
          <a:noFill/>
          <a:ln/>
        </p:spPr>
        <p:txBody>
          <a:bodyPr wrap="square" lIns="0" tIns="0" rIns="0" bIns="0" rtlCol="0" anchor="ctr"/>
          <a:lstStyle/>
          <a:p>
            <a:pPr indent="0" marL="0">
              <a:buNone/>
            </a:pPr>
            <a:r>
              <a:rPr lang="en-US" sz="1000" b="1" dirty="0">
                <a:solidFill>
                  <a:schemeClr val="accent6"/>
                </a:solidFill>
              </a:rPr>
              <a:t>仕組みのつくり</a:t>
            </a:r>
            <a:endParaRPr lang="en-US" sz="1000" dirty="0"/>
          </a:p>
        </p:txBody>
      </p:sp>
      <p:sp>
        <p:nvSpPr>
          <p:cNvPr id="7" name="Text 5"/>
          <p:cNvSpPr txBox="1"/>
          <p:nvPr/>
        </p:nvSpPr>
        <p:spPr>
          <a:xfrm>
            <a:off x="731520" y="2423160"/>
            <a:ext cx="2103120" cy="457200"/>
          </a:xfrm>
          <a:prstGeom prst="rect">
            <a:avLst/>
          </a:prstGeom>
          <a:noFill/>
          <a:ln/>
        </p:spPr>
        <p:txBody>
          <a:bodyPr wrap="square" lIns="0" tIns="0" rIns="0" bIns="0" rtlCol="0" anchor="ctr"/>
          <a:lstStyle/>
          <a:p>
            <a:pPr indent="0" marL="0">
              <a:buNone/>
            </a:pPr>
            <a:r>
              <a:rPr lang="en-US" sz="2200" b="1" dirty="0">
                <a:solidFill>
                  <a:schemeClr val="tx1"/>
                </a:solidFill>
              </a:rPr>
              <a:t>どう構築した？</a:t>
            </a:r>
            <a:endParaRPr lang="en-US" sz="2200" dirty="0"/>
          </a:p>
        </p:txBody>
      </p:sp>
      <p:sp>
        <p:nvSpPr>
          <p:cNvPr id="8" name="Text 6"/>
          <p:cNvSpPr txBox="1"/>
          <p:nvPr/>
        </p:nvSpPr>
        <p:spPr>
          <a:xfrm>
            <a:off x="731520" y="3017520"/>
            <a:ext cx="2148840" cy="82296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単発から4段で</a:t>
            </a:r>
            <a:endParaRPr lang="en-US" sz="1300" dirty="0"/>
          </a:p>
          <a:p>
            <a:pPr indent="0" marL="0">
              <a:lnSpc>
                <a:spcPct val="120000"/>
              </a:lnSpc>
              <a:buNone/>
            </a:pPr>
            <a:r>
              <a:rPr lang="en-US" sz="1300" dirty="0">
                <a:solidFill>
                  <a:schemeClr val="tx2"/>
                </a:solidFill>
              </a:rPr>
              <a:t>組織をつくった</a:t>
            </a:r>
            <a:endParaRPr lang="en-US" sz="1300" dirty="0"/>
          </a:p>
        </p:txBody>
      </p:sp>
      <p:sp>
        <p:nvSpPr>
          <p:cNvPr id="9" name="Shape 7"/>
          <p:cNvSpPr/>
          <p:nvPr/>
        </p:nvSpPr>
        <p:spPr>
          <a:xfrm>
            <a:off x="3273552" y="1234440"/>
            <a:ext cx="2596896" cy="3154680"/>
          </a:xfrm>
          <a:prstGeom prst="roundRect">
            <a:avLst>
              <a:gd name="adj" fmla="val 2817"/>
            </a:avLst>
          </a:prstGeom>
          <a:solidFill>
            <a:srgbClr val="EEF4FB"/>
          </a:solidFill>
          <a:ln w="9525">
            <a:solidFill>
              <a:srgbClr val="EEF4FB"/>
            </a:solidFill>
            <a:prstDash val="solid"/>
          </a:ln>
        </p:spPr>
      </p:sp>
      <p:sp>
        <p:nvSpPr>
          <p:cNvPr id="10" name="Text 8"/>
          <p:cNvSpPr txBox="1"/>
          <p:nvPr/>
        </p:nvSpPr>
        <p:spPr>
          <a:xfrm>
            <a:off x="3547872" y="1463040"/>
            <a:ext cx="1371600" cy="640080"/>
          </a:xfrm>
          <a:prstGeom prst="rect">
            <a:avLst/>
          </a:prstGeom>
          <a:noFill/>
          <a:ln/>
        </p:spPr>
        <p:txBody>
          <a:bodyPr wrap="square" lIns="0" tIns="0" rIns="0" bIns="0" rtlCol="0" anchor="ctr"/>
          <a:lstStyle/>
          <a:p>
            <a:pPr indent="0" marL="0">
              <a:buNone/>
            </a:pPr>
            <a:r>
              <a:rPr lang="en-US" sz="3600" b="1" dirty="0">
                <a:solidFill>
                  <a:schemeClr val="accent1"/>
                </a:solidFill>
              </a:rPr>
              <a:t>Q2</a:t>
            </a:r>
            <a:endParaRPr lang="en-US" sz="3600" dirty="0"/>
          </a:p>
        </p:txBody>
      </p:sp>
      <p:sp>
        <p:nvSpPr>
          <p:cNvPr id="11" name="Text 9"/>
          <p:cNvSpPr txBox="1"/>
          <p:nvPr/>
        </p:nvSpPr>
        <p:spPr>
          <a:xfrm>
            <a:off x="3547872" y="2148840"/>
            <a:ext cx="2103120" cy="228600"/>
          </a:xfrm>
          <a:prstGeom prst="rect">
            <a:avLst/>
          </a:prstGeom>
          <a:noFill/>
          <a:ln/>
        </p:spPr>
        <p:txBody>
          <a:bodyPr wrap="square" lIns="0" tIns="0" rIns="0" bIns="0" rtlCol="0" anchor="ctr"/>
          <a:lstStyle/>
          <a:p>
            <a:pPr indent="0" marL="0">
              <a:buNone/>
            </a:pPr>
            <a:r>
              <a:rPr lang="en-US" sz="1000" b="1" dirty="0">
                <a:solidFill>
                  <a:schemeClr val="accent6"/>
                </a:solidFill>
              </a:rPr>
              <a:t>実現できたこと</a:t>
            </a:r>
            <a:endParaRPr lang="en-US" sz="1000" dirty="0"/>
          </a:p>
        </p:txBody>
      </p:sp>
      <p:sp>
        <p:nvSpPr>
          <p:cNvPr id="12" name="Text 10"/>
          <p:cNvSpPr txBox="1"/>
          <p:nvPr/>
        </p:nvSpPr>
        <p:spPr>
          <a:xfrm>
            <a:off x="3547872" y="2423160"/>
            <a:ext cx="2103120" cy="457200"/>
          </a:xfrm>
          <a:prstGeom prst="rect">
            <a:avLst/>
          </a:prstGeom>
          <a:noFill/>
          <a:ln/>
        </p:spPr>
        <p:txBody>
          <a:bodyPr wrap="square" lIns="0" tIns="0" rIns="0" bIns="0" rtlCol="0" anchor="ctr"/>
          <a:lstStyle/>
          <a:p>
            <a:pPr indent="0" marL="0">
              <a:buNone/>
            </a:pPr>
            <a:r>
              <a:rPr lang="en-US" sz="2200" b="1" dirty="0">
                <a:solidFill>
                  <a:schemeClr val="tx1"/>
                </a:solidFill>
              </a:rPr>
              <a:t>何が変わった？</a:t>
            </a:r>
            <a:endParaRPr lang="en-US" sz="2200" dirty="0"/>
          </a:p>
        </p:txBody>
      </p:sp>
      <p:sp>
        <p:nvSpPr>
          <p:cNvPr id="13" name="Text 11"/>
          <p:cNvSpPr txBox="1"/>
          <p:nvPr/>
        </p:nvSpPr>
        <p:spPr>
          <a:xfrm>
            <a:off x="3547872" y="3017520"/>
            <a:ext cx="2148840" cy="82296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結果まで出るように。</a:t>
            </a:r>
            <a:endParaRPr lang="en-US" sz="1300" dirty="0"/>
          </a:p>
          <a:p>
            <a:pPr indent="0" marL="0">
              <a:lnSpc>
                <a:spcPct val="120000"/>
              </a:lnSpc>
              <a:buNone/>
            </a:pPr>
            <a:r>
              <a:rPr lang="en-US" sz="1300" dirty="0">
                <a:solidFill>
                  <a:schemeClr val="tx2"/>
                </a:solidFill>
              </a:rPr>
              <a:t>人の判断は800件に</a:t>
            </a:r>
            <a:endParaRPr lang="en-US" sz="1300" dirty="0"/>
          </a:p>
        </p:txBody>
      </p:sp>
      <p:sp>
        <p:nvSpPr>
          <p:cNvPr id="14" name="Shape 12"/>
          <p:cNvSpPr/>
          <p:nvPr/>
        </p:nvSpPr>
        <p:spPr>
          <a:xfrm>
            <a:off x="6089904" y="1234440"/>
            <a:ext cx="2596896" cy="3154680"/>
          </a:xfrm>
          <a:prstGeom prst="roundRect">
            <a:avLst>
              <a:gd name="adj" fmla="val 2817"/>
            </a:avLst>
          </a:prstGeom>
          <a:solidFill>
            <a:srgbClr val="EEF4FB"/>
          </a:solidFill>
          <a:ln w="9525">
            <a:solidFill>
              <a:srgbClr val="EEF4FB"/>
            </a:solidFill>
            <a:prstDash val="solid"/>
          </a:ln>
        </p:spPr>
      </p:sp>
      <p:sp>
        <p:nvSpPr>
          <p:cNvPr id="15" name="Text 13"/>
          <p:cNvSpPr txBox="1"/>
          <p:nvPr/>
        </p:nvSpPr>
        <p:spPr>
          <a:xfrm>
            <a:off x="6364224" y="1463040"/>
            <a:ext cx="1371600" cy="640080"/>
          </a:xfrm>
          <a:prstGeom prst="rect">
            <a:avLst/>
          </a:prstGeom>
          <a:noFill/>
          <a:ln/>
        </p:spPr>
        <p:txBody>
          <a:bodyPr wrap="square" lIns="0" tIns="0" rIns="0" bIns="0" rtlCol="0" anchor="ctr"/>
          <a:lstStyle/>
          <a:p>
            <a:pPr indent="0" marL="0">
              <a:buNone/>
            </a:pPr>
            <a:r>
              <a:rPr lang="en-US" sz="3600" b="1" dirty="0">
                <a:solidFill>
                  <a:schemeClr val="accent1"/>
                </a:solidFill>
              </a:rPr>
              <a:t>Q3</a:t>
            </a:r>
            <a:endParaRPr lang="en-US" sz="3600" dirty="0"/>
          </a:p>
        </p:txBody>
      </p:sp>
      <p:sp>
        <p:nvSpPr>
          <p:cNvPr id="16" name="Text 14"/>
          <p:cNvSpPr txBox="1"/>
          <p:nvPr/>
        </p:nvSpPr>
        <p:spPr>
          <a:xfrm>
            <a:off x="6364224" y="2148840"/>
            <a:ext cx="2103120" cy="228600"/>
          </a:xfrm>
          <a:prstGeom prst="rect">
            <a:avLst/>
          </a:prstGeom>
          <a:noFill/>
          <a:ln/>
        </p:spPr>
        <p:txBody>
          <a:bodyPr wrap="square" lIns="0" tIns="0" rIns="0" bIns="0" rtlCol="0" anchor="ctr"/>
          <a:lstStyle/>
          <a:p>
            <a:pPr indent="0" marL="0">
              <a:buNone/>
            </a:pPr>
            <a:r>
              <a:rPr lang="en-US" sz="1000" b="1" dirty="0">
                <a:solidFill>
                  <a:schemeClr val="accent6"/>
                </a:solidFill>
              </a:rPr>
              <a:t>展開の考え</a:t>
            </a:r>
            <a:endParaRPr lang="en-US" sz="1000" dirty="0"/>
          </a:p>
        </p:txBody>
      </p:sp>
      <p:sp>
        <p:nvSpPr>
          <p:cNvPr id="17" name="Text 15"/>
          <p:cNvSpPr txBox="1"/>
          <p:nvPr/>
        </p:nvSpPr>
        <p:spPr>
          <a:xfrm>
            <a:off x="6364224" y="2423160"/>
            <a:ext cx="2103120" cy="457200"/>
          </a:xfrm>
          <a:prstGeom prst="rect">
            <a:avLst/>
          </a:prstGeom>
          <a:noFill/>
          <a:ln/>
        </p:spPr>
        <p:txBody>
          <a:bodyPr wrap="square" lIns="0" tIns="0" rIns="0" bIns="0" rtlCol="0" anchor="ctr"/>
          <a:lstStyle/>
          <a:p>
            <a:pPr indent="0" marL="0">
              <a:buNone/>
            </a:pPr>
            <a:r>
              <a:rPr lang="en-US" sz="2200" b="1" dirty="0">
                <a:solidFill>
                  <a:schemeClr val="tx1"/>
                </a:solidFill>
              </a:rPr>
              <a:t>どう広げる？</a:t>
            </a:r>
            <a:endParaRPr lang="en-US" sz="2200" dirty="0"/>
          </a:p>
        </p:txBody>
      </p:sp>
      <p:sp>
        <p:nvSpPr>
          <p:cNvPr id="18" name="Text 16"/>
          <p:cNvSpPr txBox="1"/>
          <p:nvPr/>
        </p:nvSpPr>
        <p:spPr>
          <a:xfrm>
            <a:off x="6364224" y="3017520"/>
            <a:ext cx="2148840" cy="82296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小さく広め、知識を集め、</a:t>
            </a:r>
            <a:endParaRPr lang="en-US" sz="1300" dirty="0"/>
          </a:p>
          <a:p>
            <a:pPr indent="0" marL="0">
              <a:lnSpc>
                <a:spcPct val="120000"/>
              </a:lnSpc>
              <a:buNone/>
            </a:pPr>
            <a:r>
              <a:rPr lang="en-US" sz="1300" dirty="0">
                <a:solidFill>
                  <a:schemeClr val="tx2"/>
                </a:solidFill>
              </a:rPr>
              <a:t>自動化へ</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Q1 ｜ どう構築したか</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こんなふうに、エージェント集団を作った</a:t>
            </a:r>
            <a:endParaRPr lang="en-US" sz="2600" dirty="0"/>
          </a:p>
        </p:txBody>
      </p:sp>
      <p:sp>
        <p:nvSpPr>
          <p:cNvPr id="4" name="Text 2"/>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300" b="1" dirty="0">
                <a:solidFill>
                  <a:schemeClr val="accent1"/>
                </a:solidFill>
              </a:rPr>
              <a:t>いまやっていること　</a:t>
            </a:r>
            <a:pPr indent="0" marL="0">
              <a:buNone/>
            </a:pPr>
            <a:r>
              <a:rPr lang="en-US" sz="1300" dirty="0">
                <a:solidFill>
                  <a:schemeClr val="tx2"/>
                </a:solidFill>
              </a:rPr>
              <a:t>開発業務の「導入」の負担を軽くする（SESの常駐先で作った開発ツール）</a:t>
            </a:r>
            <a:endParaRPr lang="en-US" sz="1300" dirty="0"/>
          </a:p>
        </p:txBody>
      </p:sp>
      <p:sp>
        <p:nvSpPr>
          <p:cNvPr id="5" name="Shape 3"/>
          <p:cNvSpPr/>
          <p:nvPr/>
        </p:nvSpPr>
        <p:spPr>
          <a:xfrm>
            <a:off x="457200" y="1463040"/>
            <a:ext cx="1920240" cy="1463040"/>
          </a:xfrm>
          <a:prstGeom prst="roundRect">
            <a:avLst>
              <a:gd name="adj" fmla="val 5000"/>
            </a:avLst>
          </a:prstGeom>
          <a:solidFill>
            <a:srgbClr val="EEF4FB"/>
          </a:solidFill>
          <a:ln w="9525">
            <a:solidFill>
              <a:srgbClr val="EEF4FB"/>
            </a:solidFill>
            <a:prstDash val="solid"/>
          </a:ln>
        </p:spPr>
      </p:sp>
      <p:sp>
        <p:nvSpPr>
          <p:cNvPr id="6" name="Text 4"/>
          <p:cNvSpPr txBox="1"/>
          <p:nvPr/>
        </p:nvSpPr>
        <p:spPr>
          <a:xfrm>
            <a:off x="640080" y="1600200"/>
            <a:ext cx="155448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STEP 1</a:t>
            </a:r>
            <a:endParaRPr lang="en-US" sz="1000" dirty="0"/>
          </a:p>
        </p:txBody>
      </p:sp>
      <p:sp>
        <p:nvSpPr>
          <p:cNvPr id="7" name="Text 5"/>
          <p:cNvSpPr txBox="1"/>
          <p:nvPr/>
        </p:nvSpPr>
        <p:spPr>
          <a:xfrm>
            <a:off x="640080" y="1847088"/>
            <a:ext cx="1645920" cy="365760"/>
          </a:xfrm>
          <a:prstGeom prst="rect">
            <a:avLst/>
          </a:prstGeom>
          <a:noFill/>
          <a:ln/>
        </p:spPr>
        <p:txBody>
          <a:bodyPr wrap="square" lIns="0" tIns="0" rIns="0" bIns="0" rtlCol="0" anchor="ctr"/>
          <a:lstStyle/>
          <a:p>
            <a:pPr indent="0" marL="0">
              <a:buNone/>
            </a:pPr>
            <a:r>
              <a:rPr lang="en-US" sz="1600" b="1" dirty="0">
                <a:solidFill>
                  <a:schemeClr val="tx1"/>
                </a:solidFill>
              </a:rPr>
              <a:t>単発エージェント</a:t>
            </a:r>
            <a:endParaRPr lang="en-US" sz="1600" dirty="0"/>
          </a:p>
        </p:txBody>
      </p:sp>
      <p:sp>
        <p:nvSpPr>
          <p:cNvPr id="8" name="Text 6"/>
          <p:cNvSpPr txBox="1"/>
          <p:nvPr/>
        </p:nvSpPr>
        <p:spPr>
          <a:xfrm>
            <a:off x="640080" y="2240280"/>
            <a:ext cx="1645920" cy="457200"/>
          </a:xfrm>
          <a:prstGeom prst="rect">
            <a:avLst/>
          </a:prstGeom>
          <a:noFill/>
          <a:ln/>
        </p:spPr>
        <p:txBody>
          <a:bodyPr wrap="square" lIns="0" tIns="0" rIns="0" bIns="0" rtlCol="0" anchor="t"/>
          <a:lstStyle/>
          <a:p>
            <a:pPr indent="0" marL="0">
              <a:lnSpc>
                <a:spcPct val="115000"/>
              </a:lnSpc>
              <a:buNone/>
            </a:pPr>
            <a:r>
              <a:rPr lang="en-US" sz="1100" dirty="0">
                <a:solidFill>
                  <a:schemeClr val="tx2"/>
                </a:solidFill>
              </a:rPr>
              <a:t>1つの仕事を</a:t>
            </a:r>
            <a:endParaRPr lang="en-US" sz="1100" dirty="0"/>
          </a:p>
          <a:p>
            <a:pPr indent="0" marL="0">
              <a:lnSpc>
                <a:spcPct val="115000"/>
              </a:lnSpc>
              <a:buNone/>
            </a:pPr>
            <a:r>
              <a:rPr lang="en-US" sz="1100" dirty="0">
                <a:solidFill>
                  <a:schemeClr val="tx2"/>
                </a:solidFill>
              </a:rPr>
              <a:t>1体に任せる</a:t>
            </a:r>
            <a:endParaRPr lang="en-US" sz="1100" dirty="0"/>
          </a:p>
        </p:txBody>
      </p:sp>
      <p:sp>
        <p:nvSpPr>
          <p:cNvPr id="9" name="Shape 7"/>
          <p:cNvSpPr/>
          <p:nvPr/>
        </p:nvSpPr>
        <p:spPr>
          <a:xfrm>
            <a:off x="2395728" y="2103120"/>
            <a:ext cx="146304" cy="201168"/>
          </a:xfrm>
          <a:prstGeom prst="rightArrow">
            <a:avLst/>
          </a:prstGeom>
          <a:solidFill>
            <a:srgbClr val="FFB74D"/>
          </a:solidFill>
          <a:ln w="12700">
            <a:solidFill>
              <a:srgbClr val="FFB74D"/>
            </a:solidFill>
            <a:prstDash val="solid"/>
          </a:ln>
        </p:spPr>
      </p:sp>
      <p:sp>
        <p:nvSpPr>
          <p:cNvPr id="10" name="Shape 8"/>
          <p:cNvSpPr/>
          <p:nvPr/>
        </p:nvSpPr>
        <p:spPr>
          <a:xfrm>
            <a:off x="2560320" y="1463040"/>
            <a:ext cx="1920240" cy="1463040"/>
          </a:xfrm>
          <a:prstGeom prst="roundRect">
            <a:avLst>
              <a:gd name="adj" fmla="val 5000"/>
            </a:avLst>
          </a:prstGeom>
          <a:solidFill>
            <a:srgbClr val="EEF4FB"/>
          </a:solidFill>
          <a:ln w="9525">
            <a:solidFill>
              <a:srgbClr val="EEF4FB"/>
            </a:solidFill>
            <a:prstDash val="solid"/>
          </a:ln>
        </p:spPr>
      </p:sp>
      <p:sp>
        <p:nvSpPr>
          <p:cNvPr id="11" name="Text 9"/>
          <p:cNvSpPr txBox="1"/>
          <p:nvPr/>
        </p:nvSpPr>
        <p:spPr>
          <a:xfrm>
            <a:off x="2743200" y="1600200"/>
            <a:ext cx="155448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STEP 2</a:t>
            </a:r>
            <a:endParaRPr lang="en-US" sz="1000" dirty="0"/>
          </a:p>
        </p:txBody>
      </p:sp>
      <p:sp>
        <p:nvSpPr>
          <p:cNvPr id="12" name="Text 10"/>
          <p:cNvSpPr txBox="1"/>
          <p:nvPr/>
        </p:nvSpPr>
        <p:spPr>
          <a:xfrm>
            <a:off x="2743200" y="1847088"/>
            <a:ext cx="1645920" cy="365760"/>
          </a:xfrm>
          <a:prstGeom prst="rect">
            <a:avLst/>
          </a:prstGeom>
          <a:noFill/>
          <a:ln/>
        </p:spPr>
        <p:txBody>
          <a:bodyPr wrap="square" lIns="0" tIns="0" rIns="0" bIns="0" rtlCol="0" anchor="ctr"/>
          <a:lstStyle/>
          <a:p>
            <a:pPr indent="0" marL="0">
              <a:buNone/>
            </a:pPr>
            <a:r>
              <a:rPr lang="en-US" sz="1600" b="1" dirty="0">
                <a:solidFill>
                  <a:schemeClr val="tx1"/>
                </a:solidFill>
              </a:rPr>
              <a:t>複数エージェント</a:t>
            </a:r>
            <a:endParaRPr lang="en-US" sz="1600" dirty="0"/>
          </a:p>
        </p:txBody>
      </p:sp>
      <p:sp>
        <p:nvSpPr>
          <p:cNvPr id="13" name="Text 11"/>
          <p:cNvSpPr txBox="1"/>
          <p:nvPr/>
        </p:nvSpPr>
        <p:spPr>
          <a:xfrm>
            <a:off x="2743200" y="2240280"/>
            <a:ext cx="1645920" cy="457200"/>
          </a:xfrm>
          <a:prstGeom prst="rect">
            <a:avLst/>
          </a:prstGeom>
          <a:noFill/>
          <a:ln/>
        </p:spPr>
        <p:txBody>
          <a:bodyPr wrap="square" lIns="0" tIns="0" rIns="0" bIns="0" rtlCol="0" anchor="t"/>
          <a:lstStyle/>
          <a:p>
            <a:pPr indent="0" marL="0">
              <a:lnSpc>
                <a:spcPct val="115000"/>
              </a:lnSpc>
              <a:buNone/>
            </a:pPr>
            <a:r>
              <a:rPr lang="en-US" sz="1100" dirty="0">
                <a:solidFill>
                  <a:schemeClr val="tx2"/>
                </a:solidFill>
              </a:rPr>
              <a:t>単発を束ねて</a:t>
            </a:r>
            <a:endParaRPr lang="en-US" sz="1100" dirty="0"/>
          </a:p>
          <a:p>
            <a:pPr indent="0" marL="0">
              <a:lnSpc>
                <a:spcPct val="115000"/>
              </a:lnSpc>
              <a:buNone/>
            </a:pPr>
            <a:r>
              <a:rPr lang="en-US" sz="1100" dirty="0">
                <a:solidFill>
                  <a:schemeClr val="tx2"/>
                </a:solidFill>
              </a:rPr>
              <a:t>分担させる</a:t>
            </a:r>
            <a:endParaRPr lang="en-US" sz="1100" dirty="0"/>
          </a:p>
        </p:txBody>
      </p:sp>
      <p:sp>
        <p:nvSpPr>
          <p:cNvPr id="14" name="Shape 12"/>
          <p:cNvSpPr/>
          <p:nvPr/>
        </p:nvSpPr>
        <p:spPr>
          <a:xfrm>
            <a:off x="4498848" y="2103120"/>
            <a:ext cx="146304" cy="201168"/>
          </a:xfrm>
          <a:prstGeom prst="rightArrow">
            <a:avLst/>
          </a:prstGeom>
          <a:solidFill>
            <a:srgbClr val="FFB74D"/>
          </a:solidFill>
          <a:ln w="12700">
            <a:solidFill>
              <a:srgbClr val="FFB74D"/>
            </a:solidFill>
            <a:prstDash val="solid"/>
          </a:ln>
        </p:spPr>
      </p:sp>
      <p:sp>
        <p:nvSpPr>
          <p:cNvPr id="15" name="Shape 13"/>
          <p:cNvSpPr/>
          <p:nvPr/>
        </p:nvSpPr>
        <p:spPr>
          <a:xfrm>
            <a:off x="4663440" y="1463040"/>
            <a:ext cx="1920240" cy="1463040"/>
          </a:xfrm>
          <a:prstGeom prst="roundRect">
            <a:avLst>
              <a:gd name="adj" fmla="val 5000"/>
            </a:avLst>
          </a:prstGeom>
          <a:solidFill>
            <a:srgbClr val="EEF4FB"/>
          </a:solidFill>
          <a:ln w="9525">
            <a:solidFill>
              <a:srgbClr val="EEF4FB"/>
            </a:solidFill>
            <a:prstDash val="solid"/>
          </a:ln>
        </p:spPr>
      </p:sp>
      <p:sp>
        <p:nvSpPr>
          <p:cNvPr id="16" name="Text 14"/>
          <p:cNvSpPr txBox="1"/>
          <p:nvPr/>
        </p:nvSpPr>
        <p:spPr>
          <a:xfrm>
            <a:off x="4846320" y="1600200"/>
            <a:ext cx="155448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STEP 3</a:t>
            </a:r>
            <a:endParaRPr lang="en-US" sz="1000" dirty="0"/>
          </a:p>
        </p:txBody>
      </p:sp>
      <p:sp>
        <p:nvSpPr>
          <p:cNvPr id="17" name="Text 15"/>
          <p:cNvSpPr txBox="1"/>
          <p:nvPr/>
        </p:nvSpPr>
        <p:spPr>
          <a:xfrm>
            <a:off x="4846320" y="1847088"/>
            <a:ext cx="1645920" cy="365760"/>
          </a:xfrm>
          <a:prstGeom prst="rect">
            <a:avLst/>
          </a:prstGeom>
          <a:noFill/>
          <a:ln/>
        </p:spPr>
        <p:txBody>
          <a:bodyPr wrap="square" lIns="0" tIns="0" rIns="0" bIns="0" rtlCol="0" anchor="ctr"/>
          <a:lstStyle/>
          <a:p>
            <a:pPr indent="0" marL="0">
              <a:buNone/>
            </a:pPr>
            <a:r>
              <a:rPr lang="en-US" sz="1600" b="1" dirty="0">
                <a:solidFill>
                  <a:schemeClr val="tx1"/>
                </a:solidFill>
              </a:rPr>
              <a:t>人事部</a:t>
            </a:r>
            <a:endParaRPr lang="en-US" sz="1600" dirty="0"/>
          </a:p>
        </p:txBody>
      </p:sp>
      <p:sp>
        <p:nvSpPr>
          <p:cNvPr id="18" name="Text 16"/>
          <p:cNvSpPr txBox="1"/>
          <p:nvPr/>
        </p:nvSpPr>
        <p:spPr>
          <a:xfrm>
            <a:off x="4846320" y="2240280"/>
            <a:ext cx="1645920" cy="457200"/>
          </a:xfrm>
          <a:prstGeom prst="rect">
            <a:avLst/>
          </a:prstGeom>
          <a:noFill/>
          <a:ln/>
        </p:spPr>
        <p:txBody>
          <a:bodyPr wrap="square" lIns="0" tIns="0" rIns="0" bIns="0" rtlCol="0" anchor="t"/>
          <a:lstStyle/>
          <a:p>
            <a:pPr indent="0" marL="0">
              <a:lnSpc>
                <a:spcPct val="115000"/>
              </a:lnSpc>
              <a:buNone/>
            </a:pPr>
            <a:r>
              <a:rPr lang="en-US" sz="1100" dirty="0">
                <a:solidFill>
                  <a:schemeClr val="tx2"/>
                </a:solidFill>
              </a:rPr>
              <a:t>割り振り・制御・</a:t>
            </a:r>
            <a:endParaRPr lang="en-US" sz="1100" dirty="0"/>
          </a:p>
          <a:p>
            <a:pPr indent="0" marL="0">
              <a:lnSpc>
                <a:spcPct val="115000"/>
              </a:lnSpc>
              <a:buNone/>
            </a:pPr>
            <a:r>
              <a:rPr lang="en-US" sz="1100" dirty="0">
                <a:solidFill>
                  <a:schemeClr val="tx2"/>
                </a:solidFill>
              </a:rPr>
              <a:t>管理をする部署</a:t>
            </a:r>
            <a:endParaRPr lang="en-US" sz="1100" dirty="0"/>
          </a:p>
        </p:txBody>
      </p:sp>
      <p:sp>
        <p:nvSpPr>
          <p:cNvPr id="19" name="Shape 17"/>
          <p:cNvSpPr/>
          <p:nvPr/>
        </p:nvSpPr>
        <p:spPr>
          <a:xfrm>
            <a:off x="6601968" y="2103120"/>
            <a:ext cx="146304" cy="201168"/>
          </a:xfrm>
          <a:prstGeom prst="rightArrow">
            <a:avLst/>
          </a:prstGeom>
          <a:solidFill>
            <a:srgbClr val="FFB74D"/>
          </a:solidFill>
          <a:ln w="12700">
            <a:solidFill>
              <a:srgbClr val="FFB74D"/>
            </a:solidFill>
            <a:prstDash val="solid"/>
          </a:ln>
        </p:spPr>
      </p:sp>
      <p:sp>
        <p:nvSpPr>
          <p:cNvPr id="20" name="Shape 18"/>
          <p:cNvSpPr/>
          <p:nvPr/>
        </p:nvSpPr>
        <p:spPr>
          <a:xfrm>
            <a:off x="6766560" y="1463040"/>
            <a:ext cx="1920240" cy="1463040"/>
          </a:xfrm>
          <a:prstGeom prst="roundRect">
            <a:avLst>
              <a:gd name="adj" fmla="val 5000"/>
            </a:avLst>
          </a:prstGeom>
          <a:solidFill>
            <a:srgbClr val="EEF4FB"/>
          </a:solidFill>
          <a:ln w="9525">
            <a:solidFill>
              <a:srgbClr val="EEF4FB"/>
            </a:solidFill>
            <a:prstDash val="solid"/>
          </a:ln>
        </p:spPr>
      </p:sp>
      <p:sp>
        <p:nvSpPr>
          <p:cNvPr id="21" name="Text 19"/>
          <p:cNvSpPr txBox="1"/>
          <p:nvPr/>
        </p:nvSpPr>
        <p:spPr>
          <a:xfrm>
            <a:off x="6949440" y="1600200"/>
            <a:ext cx="155448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STEP 4</a:t>
            </a:r>
            <a:endParaRPr lang="en-US" sz="1000" dirty="0"/>
          </a:p>
        </p:txBody>
      </p:sp>
      <p:sp>
        <p:nvSpPr>
          <p:cNvPr id="22" name="Text 20"/>
          <p:cNvSpPr txBox="1"/>
          <p:nvPr/>
        </p:nvSpPr>
        <p:spPr>
          <a:xfrm>
            <a:off x="6949440" y="1847088"/>
            <a:ext cx="1645920" cy="365760"/>
          </a:xfrm>
          <a:prstGeom prst="rect">
            <a:avLst/>
          </a:prstGeom>
          <a:noFill/>
          <a:ln/>
        </p:spPr>
        <p:txBody>
          <a:bodyPr wrap="square" lIns="0" tIns="0" rIns="0" bIns="0" rtlCol="0" anchor="ctr"/>
          <a:lstStyle/>
          <a:p>
            <a:pPr indent="0" marL="0">
              <a:buNone/>
            </a:pPr>
            <a:r>
              <a:rPr lang="en-US" sz="1600" b="1" dirty="0">
                <a:solidFill>
                  <a:schemeClr val="tx1"/>
                </a:solidFill>
              </a:rPr>
              <a:t>アドバイザー</a:t>
            </a:r>
            <a:endParaRPr lang="en-US" sz="1600" dirty="0"/>
          </a:p>
        </p:txBody>
      </p:sp>
      <p:sp>
        <p:nvSpPr>
          <p:cNvPr id="23" name="Text 21"/>
          <p:cNvSpPr txBox="1"/>
          <p:nvPr/>
        </p:nvSpPr>
        <p:spPr>
          <a:xfrm>
            <a:off x="6949440" y="2240280"/>
            <a:ext cx="1645920" cy="457200"/>
          </a:xfrm>
          <a:prstGeom prst="rect">
            <a:avLst/>
          </a:prstGeom>
          <a:noFill/>
          <a:ln/>
        </p:spPr>
        <p:txBody>
          <a:bodyPr wrap="square" lIns="0" tIns="0" rIns="0" bIns="0" rtlCol="0" anchor="t"/>
          <a:lstStyle/>
          <a:p>
            <a:pPr indent="0" marL="0">
              <a:lnSpc>
                <a:spcPct val="115000"/>
              </a:lnSpc>
              <a:buNone/>
            </a:pPr>
            <a:r>
              <a:rPr lang="en-US" sz="1100" dirty="0">
                <a:solidFill>
                  <a:schemeClr val="tx2"/>
                </a:solidFill>
              </a:rPr>
              <a:t>チームの働き方に</a:t>
            </a:r>
            <a:endParaRPr lang="en-US" sz="1100" dirty="0"/>
          </a:p>
          <a:p>
            <a:pPr indent="0" marL="0">
              <a:lnSpc>
                <a:spcPct val="115000"/>
              </a:lnSpc>
              <a:buNone/>
            </a:pPr>
            <a:r>
              <a:rPr lang="en-US" sz="1100" dirty="0">
                <a:solidFill>
                  <a:schemeClr val="tx2"/>
                </a:solidFill>
              </a:rPr>
              <a:t>助言するコンサル</a:t>
            </a:r>
            <a:endParaRPr lang="en-US" sz="1100" dirty="0"/>
          </a:p>
        </p:txBody>
      </p:sp>
      <p:sp>
        <p:nvSpPr>
          <p:cNvPr id="24" name="Shape 22"/>
          <p:cNvSpPr/>
          <p:nvPr/>
        </p:nvSpPr>
        <p:spPr>
          <a:xfrm>
            <a:off x="457200" y="3246120"/>
            <a:ext cx="5669280" cy="1143000"/>
          </a:xfrm>
          <a:prstGeom prst="roundRect">
            <a:avLst>
              <a:gd name="adj" fmla="val 6400"/>
            </a:avLst>
          </a:prstGeom>
          <a:solidFill>
            <a:srgbClr val="1565C0"/>
          </a:solidFill>
          <a:ln w="9525">
            <a:solidFill>
              <a:srgbClr val="1565C0"/>
            </a:solidFill>
            <a:prstDash val="solid"/>
          </a:ln>
        </p:spPr>
      </p:sp>
      <p:sp>
        <p:nvSpPr>
          <p:cNvPr id="25" name="Text 23"/>
          <p:cNvSpPr txBox="1"/>
          <p:nvPr/>
        </p:nvSpPr>
        <p:spPr>
          <a:xfrm>
            <a:off x="685800" y="3383280"/>
            <a:ext cx="5212080" cy="228600"/>
          </a:xfrm>
          <a:prstGeom prst="rect">
            <a:avLst/>
          </a:prstGeom>
          <a:noFill/>
          <a:ln/>
        </p:spPr>
        <p:txBody>
          <a:bodyPr wrap="square" lIns="0" tIns="0" rIns="0" bIns="0" rtlCol="0" anchor="ctr"/>
          <a:lstStyle/>
          <a:p>
            <a:pPr indent="0" marL="0">
              <a:buNone/>
            </a:pPr>
            <a:r>
              <a:rPr lang="en-US" sz="1100" b="1" spc="100" kern="0" dirty="0">
                <a:solidFill>
                  <a:schemeClr val="accent2"/>
                </a:solidFill>
              </a:rPr>
              <a:t>絶対に守るルール</a:t>
            </a:r>
            <a:endParaRPr lang="en-US" sz="1100" dirty="0"/>
          </a:p>
        </p:txBody>
      </p:sp>
      <p:sp>
        <p:nvSpPr>
          <p:cNvPr id="26" name="Text 24"/>
          <p:cNvSpPr txBox="1"/>
          <p:nvPr/>
        </p:nvSpPr>
        <p:spPr>
          <a:xfrm>
            <a:off x="685800" y="3657600"/>
            <a:ext cx="5303520" cy="594360"/>
          </a:xfrm>
          <a:prstGeom prst="rect">
            <a:avLst/>
          </a:prstGeom>
          <a:noFill/>
          <a:ln/>
        </p:spPr>
        <p:txBody>
          <a:bodyPr wrap="square" lIns="0" tIns="0" rIns="0" bIns="0" rtlCol="0" anchor="ctr"/>
          <a:lstStyle/>
          <a:p>
            <a:pPr indent="0" marL="0">
              <a:buNone/>
            </a:pPr>
            <a:r>
              <a:rPr lang="en-US" sz="2400" b="1" dirty="0">
                <a:solidFill>
                  <a:schemeClr val="bg1"/>
                </a:solidFill>
              </a:rPr>
              <a:t>矛盾などの判断は、必ず人間が行う</a:t>
            </a:r>
            <a:endParaRPr lang="en-US" sz="2400" dirty="0"/>
          </a:p>
        </p:txBody>
      </p:sp>
      <p:sp>
        <p:nvSpPr>
          <p:cNvPr id="27" name="Text 25"/>
          <p:cNvSpPr txBox="1"/>
          <p:nvPr/>
        </p:nvSpPr>
        <p:spPr>
          <a:xfrm>
            <a:off x="6355080" y="3383280"/>
            <a:ext cx="2286000" cy="228600"/>
          </a:xfrm>
          <a:prstGeom prst="rect">
            <a:avLst/>
          </a:prstGeom>
          <a:noFill/>
          <a:ln/>
        </p:spPr>
        <p:txBody>
          <a:bodyPr wrap="square" lIns="0" tIns="0" rIns="0" bIns="0" rtlCol="0" anchor="ctr"/>
          <a:lstStyle/>
          <a:p>
            <a:pPr indent="0" marL="0">
              <a:buNone/>
            </a:pPr>
            <a:r>
              <a:rPr lang="en-US" sz="1000" b="1" dirty="0">
                <a:solidFill>
                  <a:schemeClr val="accent6"/>
                </a:solidFill>
              </a:rPr>
              <a:t>目指す姿</a:t>
            </a:r>
            <a:endParaRPr lang="en-US" sz="1000" dirty="0"/>
          </a:p>
        </p:txBody>
      </p:sp>
      <p:sp>
        <p:nvSpPr>
          <p:cNvPr id="28" name="Text 26"/>
          <p:cNvSpPr txBox="1"/>
          <p:nvPr/>
        </p:nvSpPr>
        <p:spPr>
          <a:xfrm>
            <a:off x="6355080" y="3639312"/>
            <a:ext cx="2377440" cy="548640"/>
          </a:xfrm>
          <a:prstGeom prst="rect">
            <a:avLst/>
          </a:prstGeom>
          <a:noFill/>
          <a:ln/>
        </p:spPr>
        <p:txBody>
          <a:bodyPr wrap="square" lIns="0" tIns="0" rIns="0" bIns="0" rtlCol="0" anchor="t"/>
          <a:lstStyle/>
          <a:p>
            <a:pPr indent="0" marL="0">
              <a:lnSpc>
                <a:spcPct val="110000"/>
              </a:lnSpc>
              <a:buNone/>
            </a:pPr>
            <a:r>
              <a:rPr lang="en-US" sz="1300" b="1" dirty="0">
                <a:solidFill>
                  <a:schemeClr val="tx2"/>
                </a:solidFill>
              </a:rPr>
              <a:t>機能担当の「中心」で</a:t>
            </a:r>
            <a:endParaRPr lang="en-US" sz="1300" dirty="0"/>
          </a:p>
          <a:p>
            <a:pPr indent="0" marL="0">
              <a:lnSpc>
                <a:spcPct val="110000"/>
              </a:lnSpc>
              <a:buNone/>
            </a:pPr>
            <a:r>
              <a:rPr lang="en-US" sz="1300" b="1" dirty="0">
                <a:solidFill>
                  <a:schemeClr val="tx2"/>
                </a:solidFill>
              </a:rPr>
              <a:t>動くシステム</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Q1 ｜ どう構築したか</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エージェント組織完成までの時系列</a:t>
            </a:r>
            <a:endParaRPr lang="en-US" sz="2600" dirty="0"/>
          </a:p>
        </p:txBody>
      </p:sp>
      <p:sp>
        <p:nvSpPr>
          <p:cNvPr id="4" name="Shape 2"/>
          <p:cNvSpPr/>
          <p:nvPr/>
        </p:nvSpPr>
        <p:spPr>
          <a:xfrm>
            <a:off x="457200" y="987552"/>
            <a:ext cx="1920240" cy="329184"/>
          </a:xfrm>
          <a:prstGeom prst="roundRect">
            <a:avLst>
              <a:gd name="adj" fmla="val 22222"/>
            </a:avLst>
          </a:prstGeom>
          <a:solidFill>
            <a:srgbClr val="1565C0"/>
          </a:solidFill>
          <a:ln w="9525">
            <a:solidFill>
              <a:srgbClr val="1565C0"/>
            </a:solidFill>
            <a:prstDash val="solid"/>
          </a:ln>
        </p:spPr>
      </p:sp>
      <p:sp>
        <p:nvSpPr>
          <p:cNvPr id="5" name="Text 3"/>
          <p:cNvSpPr txBox="1"/>
          <p:nvPr/>
        </p:nvSpPr>
        <p:spPr>
          <a:xfrm>
            <a:off x="45720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3"/>
                </a:solidFill>
              </a:rPr>
              <a:t>STEP 1　</a:t>
            </a:r>
            <a:pPr algn="ctr" indent="0" marL="0">
              <a:buNone/>
            </a:pPr>
            <a:r>
              <a:rPr lang="en-US" sz="1200" b="1" dirty="0">
                <a:solidFill>
                  <a:schemeClr val="bg1"/>
                </a:solidFill>
              </a:rPr>
              <a:t>単発</a:t>
            </a:r>
            <a:endParaRPr lang="en-US" sz="1200" dirty="0"/>
          </a:p>
        </p:txBody>
      </p:sp>
      <p:sp>
        <p:nvSpPr>
          <p:cNvPr id="6" name="Shape 4"/>
          <p:cNvSpPr/>
          <p:nvPr/>
        </p:nvSpPr>
        <p:spPr>
          <a:xfrm>
            <a:off x="2395728" y="1069848"/>
            <a:ext cx="146304" cy="164592"/>
          </a:xfrm>
          <a:prstGeom prst="rightArrow">
            <a:avLst/>
          </a:prstGeom>
          <a:solidFill>
            <a:srgbClr val="FFB74D"/>
          </a:solidFill>
          <a:ln w="12700">
            <a:solidFill>
              <a:srgbClr val="FFB74D"/>
            </a:solidFill>
            <a:prstDash val="solid"/>
          </a:ln>
        </p:spPr>
      </p:sp>
      <p:sp>
        <p:nvSpPr>
          <p:cNvPr id="7" name="Shape 5"/>
          <p:cNvSpPr/>
          <p:nvPr/>
        </p:nvSpPr>
        <p:spPr>
          <a:xfrm>
            <a:off x="2560320" y="987552"/>
            <a:ext cx="1920240" cy="329184"/>
          </a:xfrm>
          <a:prstGeom prst="roundRect">
            <a:avLst>
              <a:gd name="adj" fmla="val 22222"/>
            </a:avLst>
          </a:prstGeom>
          <a:solidFill>
            <a:srgbClr val="EEF4FB"/>
          </a:solidFill>
          <a:ln w="9525">
            <a:solidFill>
              <a:srgbClr val="EEF4FB"/>
            </a:solidFill>
            <a:prstDash val="solid"/>
          </a:ln>
        </p:spPr>
      </p:sp>
      <p:sp>
        <p:nvSpPr>
          <p:cNvPr id="8" name="Text 6"/>
          <p:cNvSpPr txBox="1"/>
          <p:nvPr/>
        </p:nvSpPr>
        <p:spPr>
          <a:xfrm>
            <a:off x="256032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6"/>
                </a:solidFill>
              </a:rPr>
              <a:t>STEP 2　</a:t>
            </a:r>
            <a:pPr algn="ctr" indent="0" marL="0">
              <a:buNone/>
            </a:pPr>
            <a:r>
              <a:rPr lang="en-US" sz="1200" b="1" dirty="0">
                <a:solidFill>
                  <a:schemeClr val="tx2"/>
                </a:solidFill>
              </a:rPr>
              <a:t>複数</a:t>
            </a:r>
            <a:endParaRPr lang="en-US" sz="1200" dirty="0"/>
          </a:p>
        </p:txBody>
      </p:sp>
      <p:sp>
        <p:nvSpPr>
          <p:cNvPr id="9" name="Shape 7"/>
          <p:cNvSpPr/>
          <p:nvPr/>
        </p:nvSpPr>
        <p:spPr>
          <a:xfrm>
            <a:off x="4498848" y="1069848"/>
            <a:ext cx="146304" cy="164592"/>
          </a:xfrm>
          <a:prstGeom prst="rightArrow">
            <a:avLst/>
          </a:prstGeom>
          <a:solidFill>
            <a:srgbClr val="FFB74D"/>
          </a:solidFill>
          <a:ln w="12700">
            <a:solidFill>
              <a:srgbClr val="FFB74D"/>
            </a:solidFill>
            <a:prstDash val="solid"/>
          </a:ln>
        </p:spPr>
      </p:sp>
      <p:sp>
        <p:nvSpPr>
          <p:cNvPr id="10" name="Shape 8"/>
          <p:cNvSpPr/>
          <p:nvPr/>
        </p:nvSpPr>
        <p:spPr>
          <a:xfrm>
            <a:off x="4663440" y="987552"/>
            <a:ext cx="1920240" cy="329184"/>
          </a:xfrm>
          <a:prstGeom prst="roundRect">
            <a:avLst>
              <a:gd name="adj" fmla="val 22222"/>
            </a:avLst>
          </a:prstGeom>
          <a:solidFill>
            <a:srgbClr val="EEF4FB"/>
          </a:solidFill>
          <a:ln w="9525">
            <a:solidFill>
              <a:srgbClr val="EEF4FB"/>
            </a:solidFill>
            <a:prstDash val="solid"/>
          </a:ln>
        </p:spPr>
      </p:sp>
      <p:sp>
        <p:nvSpPr>
          <p:cNvPr id="11" name="Text 9"/>
          <p:cNvSpPr txBox="1"/>
          <p:nvPr/>
        </p:nvSpPr>
        <p:spPr>
          <a:xfrm>
            <a:off x="466344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6"/>
                </a:solidFill>
              </a:rPr>
              <a:t>STEP 3　</a:t>
            </a:r>
            <a:pPr algn="ctr" indent="0" marL="0">
              <a:buNone/>
            </a:pPr>
            <a:r>
              <a:rPr lang="en-US" sz="1200" b="1" dirty="0">
                <a:solidFill>
                  <a:schemeClr val="tx2"/>
                </a:solidFill>
              </a:rPr>
              <a:t>人事部</a:t>
            </a:r>
            <a:endParaRPr lang="en-US" sz="1200" dirty="0"/>
          </a:p>
        </p:txBody>
      </p:sp>
      <p:sp>
        <p:nvSpPr>
          <p:cNvPr id="12" name="Shape 10"/>
          <p:cNvSpPr/>
          <p:nvPr/>
        </p:nvSpPr>
        <p:spPr>
          <a:xfrm>
            <a:off x="6601968" y="1069848"/>
            <a:ext cx="146304" cy="164592"/>
          </a:xfrm>
          <a:prstGeom prst="rightArrow">
            <a:avLst/>
          </a:prstGeom>
          <a:solidFill>
            <a:srgbClr val="FFB74D"/>
          </a:solidFill>
          <a:ln w="12700">
            <a:solidFill>
              <a:srgbClr val="FFB74D"/>
            </a:solidFill>
            <a:prstDash val="solid"/>
          </a:ln>
        </p:spPr>
      </p:sp>
      <p:sp>
        <p:nvSpPr>
          <p:cNvPr id="13" name="Shape 11"/>
          <p:cNvSpPr/>
          <p:nvPr/>
        </p:nvSpPr>
        <p:spPr>
          <a:xfrm>
            <a:off x="6766560" y="987552"/>
            <a:ext cx="1920240" cy="329184"/>
          </a:xfrm>
          <a:prstGeom prst="roundRect">
            <a:avLst>
              <a:gd name="adj" fmla="val 22222"/>
            </a:avLst>
          </a:prstGeom>
          <a:solidFill>
            <a:srgbClr val="EEF4FB"/>
          </a:solidFill>
          <a:ln w="9525">
            <a:solidFill>
              <a:srgbClr val="EEF4FB"/>
            </a:solidFill>
            <a:prstDash val="solid"/>
          </a:ln>
        </p:spPr>
      </p:sp>
      <p:sp>
        <p:nvSpPr>
          <p:cNvPr id="14" name="Text 12"/>
          <p:cNvSpPr txBox="1"/>
          <p:nvPr/>
        </p:nvSpPr>
        <p:spPr>
          <a:xfrm>
            <a:off x="676656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6"/>
                </a:solidFill>
              </a:rPr>
              <a:t>STEP 4　</a:t>
            </a:r>
            <a:pPr algn="ctr" indent="0" marL="0">
              <a:buNone/>
            </a:pPr>
            <a:r>
              <a:rPr lang="en-US" sz="1200" b="1" dirty="0">
                <a:solidFill>
                  <a:schemeClr val="tx2"/>
                </a:solidFill>
              </a:rPr>
              <a:t>アドバイザー</a:t>
            </a:r>
            <a:endParaRPr lang="en-US" sz="1200" dirty="0"/>
          </a:p>
        </p:txBody>
      </p:sp>
      <p:pic>
        <p:nvPicPr>
          <p:cNvPr id="15" name="Image 0" descr="solo">    </p:cNvPr>
          <p:cNvPicPr>
            <a:picLocks noChangeAspect="1"/>
          </p:cNvPicPr>
          <p:nvPr/>
        </p:nvPicPr>
        <p:blipFill>
          <a:blip r:embed="rId1"/>
          <a:stretch>
            <a:fillRect/>
          </a:stretch>
        </p:blipFill>
        <p:spPr>
          <a:xfrm>
            <a:off x="457200" y="1508760"/>
            <a:ext cx="3874252" cy="2926080"/>
          </a:xfrm>
          <a:prstGeom prst="rect">
            <a:avLst/>
          </a:prstGeom>
        </p:spPr>
      </p:pic>
      <p:sp>
        <p:nvSpPr>
          <p:cNvPr id="16" name="Text 13"/>
          <p:cNvSpPr txBox="1"/>
          <p:nvPr/>
        </p:nvSpPr>
        <p:spPr>
          <a:xfrm>
            <a:off x="4572000" y="1554480"/>
            <a:ext cx="4114800" cy="365760"/>
          </a:xfrm>
          <a:prstGeom prst="rect">
            <a:avLst/>
          </a:prstGeom>
          <a:noFill/>
          <a:ln/>
        </p:spPr>
        <p:txBody>
          <a:bodyPr wrap="square" lIns="0" tIns="0" rIns="0" bIns="0" rtlCol="0" anchor="ctr"/>
          <a:lstStyle/>
          <a:p>
            <a:pPr indent="0" marL="0">
              <a:buNone/>
            </a:pPr>
            <a:r>
              <a:rPr lang="en-US" sz="1500" b="1" dirty="0">
                <a:solidFill>
                  <a:schemeClr val="tx1"/>
                </a:solidFill>
              </a:rPr>
              <a:t>まず、仕事を1つずつエージェントにした</a:t>
            </a:r>
            <a:endParaRPr lang="en-US" sz="1500" dirty="0"/>
          </a:p>
        </p:txBody>
      </p:sp>
      <p:sp>
        <p:nvSpPr>
          <p:cNvPr id="17" name="Text 14"/>
          <p:cNvSpPr txBox="1"/>
          <p:nvPr/>
        </p:nvSpPr>
        <p:spPr>
          <a:xfrm>
            <a:off x="4572000" y="1920240"/>
            <a:ext cx="4114800" cy="274320"/>
          </a:xfrm>
          <a:prstGeom prst="rect">
            <a:avLst/>
          </a:prstGeom>
          <a:noFill/>
          <a:ln/>
        </p:spPr>
        <p:txBody>
          <a:bodyPr wrap="square" lIns="0" tIns="0" rIns="0" bIns="0" rtlCol="0" anchor="ctr"/>
          <a:lstStyle/>
          <a:p>
            <a:pPr indent="0" marL="0">
              <a:buNone/>
            </a:pPr>
            <a:r>
              <a:rPr lang="en-US" sz="1200" dirty="0">
                <a:solidFill>
                  <a:schemeClr val="tx2"/>
                </a:solidFill>
              </a:rPr>
              <a:t>1つの仕事に、1体。単発で動かすところから始めた</a:t>
            </a:r>
            <a:endParaRPr lang="en-US" sz="1200" dirty="0"/>
          </a:p>
        </p:txBody>
      </p:sp>
      <p:sp>
        <p:nvSpPr>
          <p:cNvPr id="18" name="Shape 15"/>
          <p:cNvSpPr/>
          <p:nvPr/>
        </p:nvSpPr>
        <p:spPr>
          <a:xfrm>
            <a:off x="4572000" y="2377440"/>
            <a:ext cx="4114800" cy="777240"/>
          </a:xfrm>
          <a:prstGeom prst="roundRect">
            <a:avLst>
              <a:gd name="adj" fmla="val 9412"/>
            </a:avLst>
          </a:prstGeom>
          <a:solidFill>
            <a:srgbClr val="EEF4FB"/>
          </a:solidFill>
          <a:ln w="9525">
            <a:solidFill>
              <a:srgbClr val="EEF4FB"/>
            </a:solidFill>
            <a:prstDash val="solid"/>
          </a:ln>
        </p:spPr>
      </p:sp>
      <p:sp>
        <p:nvSpPr>
          <p:cNvPr id="19" name="Text 16"/>
          <p:cNvSpPr txBox="1"/>
          <p:nvPr/>
        </p:nvSpPr>
        <p:spPr>
          <a:xfrm>
            <a:off x="4754880" y="2468880"/>
            <a:ext cx="3749040" cy="320040"/>
          </a:xfrm>
          <a:prstGeom prst="rect">
            <a:avLst/>
          </a:prstGeom>
          <a:noFill/>
          <a:ln/>
        </p:spPr>
        <p:txBody>
          <a:bodyPr wrap="square" lIns="0" tIns="0" rIns="0" bIns="0" rtlCol="0" anchor="ctr"/>
          <a:lstStyle/>
          <a:p>
            <a:pPr indent="0" marL="0">
              <a:buNone/>
            </a:pPr>
            <a:r>
              <a:rPr lang="en-US" sz="1500" b="1" dirty="0">
                <a:solidFill>
                  <a:schemeClr val="tx1"/>
                </a:solidFill>
              </a:rPr>
              <a:t>仕様書を読み込む</a:t>
            </a:r>
            <a:endParaRPr lang="en-US" sz="1500" dirty="0"/>
          </a:p>
        </p:txBody>
      </p:sp>
      <p:sp>
        <p:nvSpPr>
          <p:cNvPr id="20" name="Text 17"/>
          <p:cNvSpPr txBox="1"/>
          <p:nvPr/>
        </p:nvSpPr>
        <p:spPr>
          <a:xfrm>
            <a:off x="4754880" y="2788920"/>
            <a:ext cx="3749040" cy="274320"/>
          </a:xfrm>
          <a:prstGeom prst="rect">
            <a:avLst/>
          </a:prstGeom>
          <a:noFill/>
          <a:ln/>
        </p:spPr>
        <p:txBody>
          <a:bodyPr wrap="square" lIns="0" tIns="0" rIns="0" bIns="0" rtlCol="0" anchor="ctr"/>
          <a:lstStyle/>
          <a:p>
            <a:pPr indent="0" marL="0">
              <a:buNone/>
            </a:pPr>
            <a:r>
              <a:rPr lang="en-US" sz="1200" b="1" dirty="0">
                <a:solidFill>
                  <a:schemeClr val="accent2"/>
                </a:solidFill>
              </a:rPr>
              <a:t>→ </a:t>
            </a:r>
            <a:pPr indent="0" marL="0">
              <a:buNone/>
            </a:pPr>
            <a:r>
              <a:rPr lang="en-US" sz="1200" b="1" dirty="0">
                <a:solidFill>
                  <a:schemeClr val="accent1"/>
                </a:solidFill>
              </a:rPr>
              <a:t>要点と論点のまとめ</a:t>
            </a:r>
            <a:endParaRPr lang="en-US" sz="1200" dirty="0"/>
          </a:p>
        </p:txBody>
      </p:sp>
      <p:sp>
        <p:nvSpPr>
          <p:cNvPr id="21" name="Shape 18"/>
          <p:cNvSpPr/>
          <p:nvPr/>
        </p:nvSpPr>
        <p:spPr>
          <a:xfrm>
            <a:off x="4572000" y="3337560"/>
            <a:ext cx="4114800" cy="777240"/>
          </a:xfrm>
          <a:prstGeom prst="roundRect">
            <a:avLst>
              <a:gd name="adj" fmla="val 9412"/>
            </a:avLst>
          </a:prstGeom>
          <a:solidFill>
            <a:srgbClr val="EEF4FB"/>
          </a:solidFill>
          <a:ln w="9525">
            <a:solidFill>
              <a:srgbClr val="EEF4FB"/>
            </a:solidFill>
            <a:prstDash val="solid"/>
          </a:ln>
        </p:spPr>
      </p:sp>
      <p:sp>
        <p:nvSpPr>
          <p:cNvPr id="22" name="Text 19"/>
          <p:cNvSpPr txBox="1"/>
          <p:nvPr/>
        </p:nvSpPr>
        <p:spPr>
          <a:xfrm>
            <a:off x="4754880" y="3429000"/>
            <a:ext cx="3749040" cy="320040"/>
          </a:xfrm>
          <a:prstGeom prst="rect">
            <a:avLst/>
          </a:prstGeom>
          <a:noFill/>
          <a:ln/>
        </p:spPr>
        <p:txBody>
          <a:bodyPr wrap="square" lIns="0" tIns="0" rIns="0" bIns="0" rtlCol="0" anchor="ctr"/>
          <a:lstStyle/>
          <a:p>
            <a:pPr indent="0" marL="0">
              <a:buNone/>
            </a:pPr>
            <a:r>
              <a:rPr lang="en-US" sz="1500" b="1" dirty="0">
                <a:solidFill>
                  <a:schemeClr val="tx1"/>
                </a:solidFill>
              </a:rPr>
              <a:t>ソースを解析する</a:t>
            </a:r>
            <a:endParaRPr lang="en-US" sz="1500" dirty="0"/>
          </a:p>
        </p:txBody>
      </p:sp>
      <p:sp>
        <p:nvSpPr>
          <p:cNvPr id="23" name="Text 20"/>
          <p:cNvSpPr txBox="1"/>
          <p:nvPr/>
        </p:nvSpPr>
        <p:spPr>
          <a:xfrm>
            <a:off x="4754880" y="3749040"/>
            <a:ext cx="3749040" cy="274320"/>
          </a:xfrm>
          <a:prstGeom prst="rect">
            <a:avLst/>
          </a:prstGeom>
          <a:noFill/>
          <a:ln/>
        </p:spPr>
        <p:txBody>
          <a:bodyPr wrap="square" lIns="0" tIns="0" rIns="0" bIns="0" rtlCol="0" anchor="ctr"/>
          <a:lstStyle/>
          <a:p>
            <a:pPr indent="0" marL="0">
              <a:buNone/>
            </a:pPr>
            <a:r>
              <a:rPr lang="en-US" sz="1200" b="1" dirty="0">
                <a:solidFill>
                  <a:schemeClr val="accent2"/>
                </a:solidFill>
              </a:rPr>
              <a:t>→ </a:t>
            </a:r>
            <a:pPr indent="0" marL="0">
              <a:buNone/>
            </a:pPr>
            <a:r>
              <a:rPr lang="en-US" sz="1200" b="1" dirty="0">
                <a:solidFill>
                  <a:schemeClr val="accent1"/>
                </a:solidFill>
              </a:rPr>
              <a:t>構成や流れの図</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Q1 ｜ どう構築したか</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単発のエージェントを、束ねてチームにした</a:t>
            </a:r>
            <a:endParaRPr lang="en-US" sz="2600" dirty="0"/>
          </a:p>
        </p:txBody>
      </p:sp>
      <p:sp>
        <p:nvSpPr>
          <p:cNvPr id="4" name="Shape 2"/>
          <p:cNvSpPr/>
          <p:nvPr/>
        </p:nvSpPr>
        <p:spPr>
          <a:xfrm>
            <a:off x="457200" y="987552"/>
            <a:ext cx="1920240" cy="329184"/>
          </a:xfrm>
          <a:prstGeom prst="roundRect">
            <a:avLst>
              <a:gd name="adj" fmla="val 22222"/>
            </a:avLst>
          </a:prstGeom>
          <a:solidFill>
            <a:srgbClr val="EEF4FB"/>
          </a:solidFill>
          <a:ln w="9525">
            <a:solidFill>
              <a:srgbClr val="EEF4FB"/>
            </a:solidFill>
            <a:prstDash val="solid"/>
          </a:ln>
        </p:spPr>
      </p:sp>
      <p:sp>
        <p:nvSpPr>
          <p:cNvPr id="5" name="Text 3"/>
          <p:cNvSpPr txBox="1"/>
          <p:nvPr/>
        </p:nvSpPr>
        <p:spPr>
          <a:xfrm>
            <a:off x="45720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6"/>
                </a:solidFill>
              </a:rPr>
              <a:t>STEP 1　</a:t>
            </a:r>
            <a:pPr algn="ctr" indent="0" marL="0">
              <a:buNone/>
            </a:pPr>
            <a:r>
              <a:rPr lang="en-US" sz="1200" b="1" dirty="0">
                <a:solidFill>
                  <a:schemeClr val="tx2"/>
                </a:solidFill>
              </a:rPr>
              <a:t>単発</a:t>
            </a:r>
            <a:endParaRPr lang="en-US" sz="1200" dirty="0"/>
          </a:p>
        </p:txBody>
      </p:sp>
      <p:sp>
        <p:nvSpPr>
          <p:cNvPr id="6" name="Shape 4"/>
          <p:cNvSpPr/>
          <p:nvPr/>
        </p:nvSpPr>
        <p:spPr>
          <a:xfrm>
            <a:off x="2395728" y="1069848"/>
            <a:ext cx="146304" cy="164592"/>
          </a:xfrm>
          <a:prstGeom prst="rightArrow">
            <a:avLst/>
          </a:prstGeom>
          <a:solidFill>
            <a:srgbClr val="FFB74D"/>
          </a:solidFill>
          <a:ln w="12700">
            <a:solidFill>
              <a:srgbClr val="FFB74D"/>
            </a:solidFill>
            <a:prstDash val="solid"/>
          </a:ln>
        </p:spPr>
      </p:sp>
      <p:sp>
        <p:nvSpPr>
          <p:cNvPr id="7" name="Shape 5"/>
          <p:cNvSpPr/>
          <p:nvPr/>
        </p:nvSpPr>
        <p:spPr>
          <a:xfrm>
            <a:off x="2560320" y="987552"/>
            <a:ext cx="1920240" cy="329184"/>
          </a:xfrm>
          <a:prstGeom prst="roundRect">
            <a:avLst>
              <a:gd name="adj" fmla="val 22222"/>
            </a:avLst>
          </a:prstGeom>
          <a:solidFill>
            <a:srgbClr val="1565C0"/>
          </a:solidFill>
          <a:ln w="9525">
            <a:solidFill>
              <a:srgbClr val="1565C0"/>
            </a:solidFill>
            <a:prstDash val="solid"/>
          </a:ln>
        </p:spPr>
      </p:sp>
      <p:sp>
        <p:nvSpPr>
          <p:cNvPr id="8" name="Text 6"/>
          <p:cNvSpPr txBox="1"/>
          <p:nvPr/>
        </p:nvSpPr>
        <p:spPr>
          <a:xfrm>
            <a:off x="256032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3"/>
                </a:solidFill>
              </a:rPr>
              <a:t>STEP 2　</a:t>
            </a:r>
            <a:pPr algn="ctr" indent="0" marL="0">
              <a:buNone/>
            </a:pPr>
            <a:r>
              <a:rPr lang="en-US" sz="1200" b="1" dirty="0">
                <a:solidFill>
                  <a:schemeClr val="bg1"/>
                </a:solidFill>
              </a:rPr>
              <a:t>複数</a:t>
            </a:r>
            <a:endParaRPr lang="en-US" sz="1200" dirty="0"/>
          </a:p>
        </p:txBody>
      </p:sp>
      <p:sp>
        <p:nvSpPr>
          <p:cNvPr id="9" name="Shape 7"/>
          <p:cNvSpPr/>
          <p:nvPr/>
        </p:nvSpPr>
        <p:spPr>
          <a:xfrm>
            <a:off x="4498848" y="1069848"/>
            <a:ext cx="146304" cy="164592"/>
          </a:xfrm>
          <a:prstGeom prst="rightArrow">
            <a:avLst/>
          </a:prstGeom>
          <a:solidFill>
            <a:srgbClr val="FFB74D"/>
          </a:solidFill>
          <a:ln w="12700">
            <a:solidFill>
              <a:srgbClr val="FFB74D"/>
            </a:solidFill>
            <a:prstDash val="solid"/>
          </a:ln>
        </p:spPr>
      </p:sp>
      <p:sp>
        <p:nvSpPr>
          <p:cNvPr id="10" name="Shape 8"/>
          <p:cNvSpPr/>
          <p:nvPr/>
        </p:nvSpPr>
        <p:spPr>
          <a:xfrm>
            <a:off x="4663440" y="987552"/>
            <a:ext cx="1920240" cy="329184"/>
          </a:xfrm>
          <a:prstGeom prst="roundRect">
            <a:avLst>
              <a:gd name="adj" fmla="val 22222"/>
            </a:avLst>
          </a:prstGeom>
          <a:solidFill>
            <a:srgbClr val="1565C0"/>
          </a:solidFill>
          <a:ln w="9525">
            <a:solidFill>
              <a:srgbClr val="1565C0"/>
            </a:solidFill>
            <a:prstDash val="solid"/>
          </a:ln>
        </p:spPr>
      </p:sp>
      <p:sp>
        <p:nvSpPr>
          <p:cNvPr id="11" name="Text 9"/>
          <p:cNvSpPr txBox="1"/>
          <p:nvPr/>
        </p:nvSpPr>
        <p:spPr>
          <a:xfrm>
            <a:off x="466344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3"/>
                </a:solidFill>
              </a:rPr>
              <a:t>STEP 3　</a:t>
            </a:r>
            <a:pPr algn="ctr" indent="0" marL="0">
              <a:buNone/>
            </a:pPr>
            <a:r>
              <a:rPr lang="en-US" sz="1200" b="1" dirty="0">
                <a:solidFill>
                  <a:schemeClr val="bg1"/>
                </a:solidFill>
              </a:rPr>
              <a:t>人事部</a:t>
            </a:r>
            <a:endParaRPr lang="en-US" sz="1200" dirty="0"/>
          </a:p>
        </p:txBody>
      </p:sp>
      <p:sp>
        <p:nvSpPr>
          <p:cNvPr id="12" name="Shape 10"/>
          <p:cNvSpPr/>
          <p:nvPr/>
        </p:nvSpPr>
        <p:spPr>
          <a:xfrm>
            <a:off x="6601968" y="1069848"/>
            <a:ext cx="146304" cy="164592"/>
          </a:xfrm>
          <a:prstGeom prst="rightArrow">
            <a:avLst/>
          </a:prstGeom>
          <a:solidFill>
            <a:srgbClr val="FFB74D"/>
          </a:solidFill>
          <a:ln w="12700">
            <a:solidFill>
              <a:srgbClr val="FFB74D"/>
            </a:solidFill>
            <a:prstDash val="solid"/>
          </a:ln>
        </p:spPr>
      </p:sp>
      <p:sp>
        <p:nvSpPr>
          <p:cNvPr id="13" name="Shape 11"/>
          <p:cNvSpPr/>
          <p:nvPr/>
        </p:nvSpPr>
        <p:spPr>
          <a:xfrm>
            <a:off x="6766560" y="987552"/>
            <a:ext cx="1920240" cy="329184"/>
          </a:xfrm>
          <a:prstGeom prst="roundRect">
            <a:avLst>
              <a:gd name="adj" fmla="val 22222"/>
            </a:avLst>
          </a:prstGeom>
          <a:solidFill>
            <a:srgbClr val="EEF4FB"/>
          </a:solidFill>
          <a:ln w="9525">
            <a:solidFill>
              <a:srgbClr val="EEF4FB"/>
            </a:solidFill>
            <a:prstDash val="solid"/>
          </a:ln>
        </p:spPr>
      </p:sp>
      <p:sp>
        <p:nvSpPr>
          <p:cNvPr id="14" name="Text 12"/>
          <p:cNvSpPr txBox="1"/>
          <p:nvPr/>
        </p:nvSpPr>
        <p:spPr>
          <a:xfrm>
            <a:off x="676656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6"/>
                </a:solidFill>
              </a:rPr>
              <a:t>STEP 4　</a:t>
            </a:r>
            <a:pPr algn="ctr" indent="0" marL="0">
              <a:buNone/>
            </a:pPr>
            <a:r>
              <a:rPr lang="en-US" sz="1200" b="1" dirty="0">
                <a:solidFill>
                  <a:schemeClr val="tx2"/>
                </a:solidFill>
              </a:rPr>
              <a:t>アドバイザー</a:t>
            </a:r>
            <a:endParaRPr lang="en-US" sz="1200" dirty="0"/>
          </a:p>
        </p:txBody>
      </p:sp>
      <p:pic>
        <p:nvPicPr>
          <p:cNvPr id="15" name="Image 0" descr="flow">    </p:cNvPr>
          <p:cNvPicPr>
            <a:picLocks noChangeAspect="1"/>
          </p:cNvPicPr>
          <p:nvPr/>
        </p:nvPicPr>
        <p:blipFill>
          <a:blip r:embed="rId1"/>
          <a:stretch>
            <a:fillRect/>
          </a:stretch>
        </p:blipFill>
        <p:spPr>
          <a:xfrm>
            <a:off x="457200" y="1463040"/>
            <a:ext cx="3765706" cy="3017520"/>
          </a:xfrm>
          <a:prstGeom prst="rect">
            <a:avLst/>
          </a:prstGeom>
        </p:spPr>
      </p:pic>
      <p:sp>
        <p:nvSpPr>
          <p:cNvPr id="16" name="Shape 13"/>
          <p:cNvSpPr/>
          <p:nvPr/>
        </p:nvSpPr>
        <p:spPr>
          <a:xfrm>
            <a:off x="4572000" y="1536192"/>
            <a:ext cx="420624" cy="420624"/>
          </a:xfrm>
          <a:prstGeom prst="ellipse">
            <a:avLst/>
          </a:prstGeom>
          <a:solidFill>
            <a:srgbClr val="0F2B4C"/>
          </a:solidFill>
          <a:ln w="12700">
            <a:solidFill>
              <a:srgbClr val="0F2B4C"/>
            </a:solidFill>
            <a:prstDash val="solid"/>
          </a:ln>
        </p:spPr>
      </p:sp>
      <p:sp>
        <p:nvSpPr>
          <p:cNvPr id="17" name="Text 14"/>
          <p:cNvSpPr txBox="1"/>
          <p:nvPr/>
        </p:nvSpPr>
        <p:spPr>
          <a:xfrm>
            <a:off x="4572000" y="1536192"/>
            <a:ext cx="420624" cy="420624"/>
          </a:xfrm>
          <a:prstGeom prst="rect">
            <a:avLst/>
          </a:prstGeom>
          <a:noFill/>
          <a:ln/>
        </p:spPr>
        <p:txBody>
          <a:bodyPr wrap="square" lIns="0" tIns="0" rIns="0" bIns="0" rtlCol="0" anchor="ctr"/>
          <a:lstStyle/>
          <a:p>
            <a:pPr algn="ctr" indent="0" marL="0">
              <a:buNone/>
            </a:pPr>
            <a:r>
              <a:rPr lang="en-US" sz="1196" b="1" dirty="0">
                <a:solidFill>
                  <a:schemeClr val="bg1"/>
                </a:solidFill>
              </a:rPr>
              <a:t>1</a:t>
            </a:r>
            <a:endParaRPr lang="en-US" sz="1196" dirty="0"/>
          </a:p>
        </p:txBody>
      </p:sp>
      <p:sp>
        <p:nvSpPr>
          <p:cNvPr id="18" name="Text 15"/>
          <p:cNvSpPr txBox="1"/>
          <p:nvPr/>
        </p:nvSpPr>
        <p:spPr>
          <a:xfrm>
            <a:off x="5166360" y="1508760"/>
            <a:ext cx="3566160" cy="310896"/>
          </a:xfrm>
          <a:prstGeom prst="rect">
            <a:avLst/>
          </a:prstGeom>
          <a:noFill/>
          <a:ln/>
        </p:spPr>
        <p:txBody>
          <a:bodyPr wrap="square" lIns="0" tIns="0" rIns="0" bIns="0" rtlCol="0" anchor="ctr"/>
          <a:lstStyle/>
          <a:p>
            <a:pPr indent="0" marL="0">
              <a:buNone/>
            </a:pPr>
            <a:r>
              <a:rPr lang="en-US" sz="1500" b="1" dirty="0">
                <a:solidFill>
                  <a:schemeClr val="tx1"/>
                </a:solidFill>
              </a:rPr>
              <a:t>指示を出す</a:t>
            </a:r>
            <a:endParaRPr lang="en-US" sz="1500" dirty="0"/>
          </a:p>
        </p:txBody>
      </p:sp>
      <p:sp>
        <p:nvSpPr>
          <p:cNvPr id="19" name="Text 16"/>
          <p:cNvSpPr txBox="1"/>
          <p:nvPr/>
        </p:nvSpPr>
        <p:spPr>
          <a:xfrm>
            <a:off x="5166360" y="1819656"/>
            <a:ext cx="3566160" cy="274320"/>
          </a:xfrm>
          <a:prstGeom prst="rect">
            <a:avLst/>
          </a:prstGeom>
          <a:noFill/>
          <a:ln/>
        </p:spPr>
        <p:txBody>
          <a:bodyPr wrap="square" lIns="0" tIns="0" rIns="0" bIns="0" rtlCol="0" anchor="ctr"/>
          <a:lstStyle/>
          <a:p>
            <a:pPr indent="0" marL="0">
              <a:buNone/>
            </a:pPr>
            <a:r>
              <a:rPr lang="en-US" sz="1200" dirty="0">
                <a:solidFill>
                  <a:schemeClr val="tx2"/>
                </a:solidFill>
              </a:rPr>
              <a:t>人が依頼（プロンプト）を出す</a:t>
            </a:r>
            <a:endParaRPr lang="en-US" sz="1200" dirty="0"/>
          </a:p>
        </p:txBody>
      </p:sp>
      <p:sp>
        <p:nvSpPr>
          <p:cNvPr id="20" name="Shape 17"/>
          <p:cNvSpPr/>
          <p:nvPr/>
        </p:nvSpPr>
        <p:spPr>
          <a:xfrm>
            <a:off x="4572000" y="2267712"/>
            <a:ext cx="420624" cy="420624"/>
          </a:xfrm>
          <a:prstGeom prst="ellipse">
            <a:avLst/>
          </a:prstGeom>
          <a:solidFill>
            <a:srgbClr val="0F2B4C"/>
          </a:solidFill>
          <a:ln w="12700">
            <a:solidFill>
              <a:srgbClr val="0F2B4C"/>
            </a:solidFill>
            <a:prstDash val="solid"/>
          </a:ln>
        </p:spPr>
      </p:sp>
      <p:sp>
        <p:nvSpPr>
          <p:cNvPr id="21" name="Text 18"/>
          <p:cNvSpPr txBox="1"/>
          <p:nvPr/>
        </p:nvSpPr>
        <p:spPr>
          <a:xfrm>
            <a:off x="4572000" y="2267712"/>
            <a:ext cx="420624" cy="420624"/>
          </a:xfrm>
          <a:prstGeom prst="rect">
            <a:avLst/>
          </a:prstGeom>
          <a:noFill/>
          <a:ln/>
        </p:spPr>
        <p:txBody>
          <a:bodyPr wrap="square" lIns="0" tIns="0" rIns="0" bIns="0" rtlCol="0" anchor="ctr"/>
          <a:lstStyle/>
          <a:p>
            <a:pPr algn="ctr" indent="0" marL="0">
              <a:buNone/>
            </a:pPr>
            <a:r>
              <a:rPr lang="en-US" sz="1196" b="1" dirty="0">
                <a:solidFill>
                  <a:schemeClr val="bg1"/>
                </a:solidFill>
              </a:rPr>
              <a:t>2</a:t>
            </a:r>
            <a:endParaRPr lang="en-US" sz="1196" dirty="0"/>
          </a:p>
        </p:txBody>
      </p:sp>
      <p:sp>
        <p:nvSpPr>
          <p:cNvPr id="22" name="Text 19"/>
          <p:cNvSpPr txBox="1"/>
          <p:nvPr/>
        </p:nvSpPr>
        <p:spPr>
          <a:xfrm>
            <a:off x="5166360" y="2240280"/>
            <a:ext cx="3566160" cy="310896"/>
          </a:xfrm>
          <a:prstGeom prst="rect">
            <a:avLst/>
          </a:prstGeom>
          <a:noFill/>
          <a:ln/>
        </p:spPr>
        <p:txBody>
          <a:bodyPr wrap="square" lIns="0" tIns="0" rIns="0" bIns="0" rtlCol="0" anchor="ctr"/>
          <a:lstStyle/>
          <a:p>
            <a:pPr indent="0" marL="0">
              <a:buNone/>
            </a:pPr>
            <a:r>
              <a:rPr lang="en-US" sz="1500" b="1" dirty="0">
                <a:solidFill>
                  <a:schemeClr val="tx1"/>
                </a:solidFill>
              </a:rPr>
              <a:t>振り分ける</a:t>
            </a:r>
            <a:endParaRPr lang="en-US" sz="1500" dirty="0"/>
          </a:p>
        </p:txBody>
      </p:sp>
      <p:sp>
        <p:nvSpPr>
          <p:cNvPr id="23" name="Text 20"/>
          <p:cNvSpPr txBox="1"/>
          <p:nvPr/>
        </p:nvSpPr>
        <p:spPr>
          <a:xfrm>
            <a:off x="5166360" y="2551176"/>
            <a:ext cx="3566160" cy="274320"/>
          </a:xfrm>
          <a:prstGeom prst="rect">
            <a:avLst/>
          </a:prstGeom>
          <a:noFill/>
          <a:ln/>
        </p:spPr>
        <p:txBody>
          <a:bodyPr wrap="square" lIns="0" tIns="0" rIns="0" bIns="0" rtlCol="0" anchor="ctr"/>
          <a:lstStyle/>
          <a:p>
            <a:pPr indent="0" marL="0">
              <a:buNone/>
            </a:pPr>
            <a:r>
              <a:rPr lang="en-US" sz="1200" dirty="0">
                <a:solidFill>
                  <a:schemeClr val="tx2"/>
                </a:solidFill>
              </a:rPr>
              <a:t>人事部が読んで、担当の部署へ渡す</a:t>
            </a:r>
            <a:endParaRPr lang="en-US" sz="1200" dirty="0"/>
          </a:p>
        </p:txBody>
      </p:sp>
      <p:sp>
        <p:nvSpPr>
          <p:cNvPr id="24" name="Shape 21"/>
          <p:cNvSpPr/>
          <p:nvPr/>
        </p:nvSpPr>
        <p:spPr>
          <a:xfrm>
            <a:off x="4572000" y="2999232"/>
            <a:ext cx="420624" cy="420624"/>
          </a:xfrm>
          <a:prstGeom prst="ellipse">
            <a:avLst/>
          </a:prstGeom>
          <a:solidFill>
            <a:srgbClr val="1565C0"/>
          </a:solidFill>
          <a:ln w="12700">
            <a:solidFill>
              <a:srgbClr val="1565C0"/>
            </a:solidFill>
            <a:prstDash val="solid"/>
          </a:ln>
        </p:spPr>
      </p:sp>
      <p:sp>
        <p:nvSpPr>
          <p:cNvPr id="25" name="Text 22"/>
          <p:cNvSpPr txBox="1"/>
          <p:nvPr/>
        </p:nvSpPr>
        <p:spPr>
          <a:xfrm>
            <a:off x="4572000" y="2999232"/>
            <a:ext cx="420624" cy="420624"/>
          </a:xfrm>
          <a:prstGeom prst="rect">
            <a:avLst/>
          </a:prstGeom>
          <a:noFill/>
          <a:ln/>
        </p:spPr>
        <p:txBody>
          <a:bodyPr wrap="square" lIns="0" tIns="0" rIns="0" bIns="0" rtlCol="0" anchor="ctr"/>
          <a:lstStyle/>
          <a:p>
            <a:pPr algn="ctr" indent="0" marL="0">
              <a:buNone/>
            </a:pPr>
            <a:r>
              <a:rPr lang="en-US" sz="1196" b="1" dirty="0">
                <a:solidFill>
                  <a:schemeClr val="bg1"/>
                </a:solidFill>
              </a:rPr>
              <a:t>3</a:t>
            </a:r>
            <a:endParaRPr lang="en-US" sz="1196" dirty="0"/>
          </a:p>
        </p:txBody>
      </p:sp>
      <p:sp>
        <p:nvSpPr>
          <p:cNvPr id="26" name="Text 23"/>
          <p:cNvSpPr txBox="1"/>
          <p:nvPr/>
        </p:nvSpPr>
        <p:spPr>
          <a:xfrm>
            <a:off x="5166360" y="2971800"/>
            <a:ext cx="3566160" cy="310896"/>
          </a:xfrm>
          <a:prstGeom prst="rect">
            <a:avLst/>
          </a:prstGeom>
          <a:noFill/>
          <a:ln/>
        </p:spPr>
        <p:txBody>
          <a:bodyPr wrap="square" lIns="0" tIns="0" rIns="0" bIns="0" rtlCol="0" anchor="ctr"/>
          <a:lstStyle/>
          <a:p>
            <a:pPr indent="0" marL="0">
              <a:buNone/>
            </a:pPr>
            <a:r>
              <a:rPr lang="en-US" sz="1500" b="1" dirty="0">
                <a:solidFill>
                  <a:schemeClr val="tx1"/>
                </a:solidFill>
              </a:rPr>
              <a:t>得意分野で分ける</a:t>
            </a:r>
            <a:endParaRPr lang="en-US" sz="1500" dirty="0"/>
          </a:p>
        </p:txBody>
      </p:sp>
      <p:sp>
        <p:nvSpPr>
          <p:cNvPr id="27" name="Text 24"/>
          <p:cNvSpPr txBox="1"/>
          <p:nvPr/>
        </p:nvSpPr>
        <p:spPr>
          <a:xfrm>
            <a:off x="5166360" y="3282696"/>
            <a:ext cx="3566160" cy="274320"/>
          </a:xfrm>
          <a:prstGeom prst="rect">
            <a:avLst/>
          </a:prstGeom>
          <a:noFill/>
          <a:ln/>
        </p:spPr>
        <p:txBody>
          <a:bodyPr wrap="square" lIns="0" tIns="0" rIns="0" bIns="0" rtlCol="0" anchor="ctr"/>
          <a:lstStyle/>
          <a:p>
            <a:pPr indent="0" marL="0">
              <a:buNone/>
            </a:pPr>
            <a:r>
              <a:rPr lang="en-US" sz="1200" dirty="0">
                <a:solidFill>
                  <a:schemeClr val="tx2"/>
                </a:solidFill>
              </a:rPr>
              <a:t>各エージェントがスキルで分担する</a:t>
            </a:r>
            <a:endParaRPr lang="en-US" sz="1200" dirty="0"/>
          </a:p>
        </p:txBody>
      </p:sp>
      <p:sp>
        <p:nvSpPr>
          <p:cNvPr id="28" name="Shape 25"/>
          <p:cNvSpPr/>
          <p:nvPr/>
        </p:nvSpPr>
        <p:spPr>
          <a:xfrm>
            <a:off x="4572000" y="3730752"/>
            <a:ext cx="420624" cy="420624"/>
          </a:xfrm>
          <a:prstGeom prst="ellipse">
            <a:avLst/>
          </a:prstGeom>
          <a:solidFill>
            <a:srgbClr val="0F2B4C"/>
          </a:solidFill>
          <a:ln w="12700">
            <a:solidFill>
              <a:srgbClr val="0F2B4C"/>
            </a:solidFill>
            <a:prstDash val="solid"/>
          </a:ln>
        </p:spPr>
      </p:sp>
      <p:sp>
        <p:nvSpPr>
          <p:cNvPr id="29" name="Text 26"/>
          <p:cNvSpPr txBox="1"/>
          <p:nvPr/>
        </p:nvSpPr>
        <p:spPr>
          <a:xfrm>
            <a:off x="4572000" y="3730752"/>
            <a:ext cx="420624" cy="420624"/>
          </a:xfrm>
          <a:prstGeom prst="rect">
            <a:avLst/>
          </a:prstGeom>
          <a:noFill/>
          <a:ln/>
        </p:spPr>
        <p:txBody>
          <a:bodyPr wrap="square" lIns="0" tIns="0" rIns="0" bIns="0" rtlCol="0" anchor="ctr"/>
          <a:lstStyle/>
          <a:p>
            <a:pPr algn="ctr" indent="0" marL="0">
              <a:buNone/>
            </a:pPr>
            <a:r>
              <a:rPr lang="en-US" sz="1196" b="1" dirty="0">
                <a:solidFill>
                  <a:schemeClr val="bg1"/>
                </a:solidFill>
              </a:rPr>
              <a:t>4</a:t>
            </a:r>
            <a:endParaRPr lang="en-US" sz="1196" dirty="0"/>
          </a:p>
        </p:txBody>
      </p:sp>
      <p:sp>
        <p:nvSpPr>
          <p:cNvPr id="30" name="Text 27"/>
          <p:cNvSpPr txBox="1"/>
          <p:nvPr/>
        </p:nvSpPr>
        <p:spPr>
          <a:xfrm>
            <a:off x="5166360" y="3703320"/>
            <a:ext cx="3566160" cy="310896"/>
          </a:xfrm>
          <a:prstGeom prst="rect">
            <a:avLst/>
          </a:prstGeom>
          <a:noFill/>
          <a:ln/>
        </p:spPr>
        <p:txBody>
          <a:bodyPr wrap="square" lIns="0" tIns="0" rIns="0" bIns="0" rtlCol="0" anchor="ctr"/>
          <a:lstStyle/>
          <a:p>
            <a:pPr indent="0" marL="0">
              <a:buNone/>
            </a:pPr>
            <a:r>
              <a:rPr lang="en-US" sz="1500" b="1" dirty="0">
                <a:solidFill>
                  <a:schemeClr val="tx1"/>
                </a:solidFill>
              </a:rPr>
              <a:t>判断が返ってくる</a:t>
            </a:r>
            <a:endParaRPr lang="en-US" sz="1500" dirty="0"/>
          </a:p>
        </p:txBody>
      </p:sp>
      <p:sp>
        <p:nvSpPr>
          <p:cNvPr id="31" name="Text 28"/>
          <p:cNvSpPr txBox="1"/>
          <p:nvPr/>
        </p:nvSpPr>
        <p:spPr>
          <a:xfrm>
            <a:off x="5166360" y="4014216"/>
            <a:ext cx="3566160" cy="274320"/>
          </a:xfrm>
          <a:prstGeom prst="rect">
            <a:avLst/>
          </a:prstGeom>
          <a:noFill/>
          <a:ln/>
        </p:spPr>
        <p:txBody>
          <a:bodyPr wrap="square" lIns="0" tIns="0" rIns="0" bIns="0" rtlCol="0" anchor="ctr"/>
          <a:lstStyle/>
          <a:p>
            <a:pPr indent="0" marL="0">
              <a:buNone/>
            </a:pPr>
            <a:r>
              <a:rPr lang="en-US" sz="1200" dirty="0">
                <a:solidFill>
                  <a:schemeClr val="tx2"/>
                </a:solidFill>
              </a:rPr>
              <a:t>結果と、人が決めることが返ってくる</a:t>
            </a:r>
            <a:endParaRPr lang="en-US" sz="1200" dirty="0"/>
          </a:p>
        </p:txBody>
      </p:sp>
      <p:sp>
        <p:nvSpPr>
          <p:cNvPr id="32" name="Text 29"/>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1000" dirty="0">
                <a:solidFill>
                  <a:schemeClr val="accent6"/>
                </a:solidFill>
              </a:rPr>
              <a:t>案件＝プロンプト　部署＝チーム　従業員＝エージェント　得意分野＝スキル</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Q2 ｜ 実現できたこと</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チームにしたことで、結果まで出すようになった</a:t>
            </a:r>
            <a:endParaRPr lang="en-US" sz="2600" dirty="0"/>
          </a:p>
        </p:txBody>
      </p:sp>
      <p:sp>
        <p:nvSpPr>
          <p:cNvPr id="4" name="Text 2"/>
          <p:cNvSpPr txBox="1"/>
          <p:nvPr/>
        </p:nvSpPr>
        <p:spPr>
          <a:xfrm>
            <a:off x="457200" y="1097280"/>
            <a:ext cx="3291840" cy="274320"/>
          </a:xfrm>
          <a:prstGeom prst="rect">
            <a:avLst/>
          </a:prstGeom>
          <a:noFill/>
          <a:ln/>
        </p:spPr>
        <p:txBody>
          <a:bodyPr wrap="square" lIns="0" tIns="0" rIns="0" bIns="0" rtlCol="0" anchor="ctr"/>
          <a:lstStyle/>
          <a:p>
            <a:pPr indent="0" marL="0">
              <a:buNone/>
            </a:pPr>
            <a:r>
              <a:rPr lang="en-US" sz="1200" b="1" dirty="0">
                <a:solidFill>
                  <a:schemeClr val="accent6"/>
                </a:solidFill>
              </a:rPr>
              <a:t>これまで（人が全部やる）</a:t>
            </a:r>
            <a:endParaRPr lang="en-US" sz="1200" dirty="0"/>
          </a:p>
        </p:txBody>
      </p:sp>
      <p:sp>
        <p:nvSpPr>
          <p:cNvPr id="5" name="Shape 3"/>
          <p:cNvSpPr/>
          <p:nvPr/>
        </p:nvSpPr>
        <p:spPr>
          <a:xfrm>
            <a:off x="457200" y="1463040"/>
            <a:ext cx="3108960" cy="438912"/>
          </a:xfrm>
          <a:prstGeom prst="roundRect">
            <a:avLst>
              <a:gd name="adj" fmla="val 16667"/>
            </a:avLst>
          </a:prstGeom>
          <a:solidFill>
            <a:srgbClr val="EEF4FB"/>
          </a:solidFill>
          <a:ln w="9525">
            <a:solidFill>
              <a:srgbClr val="EEF4FB"/>
            </a:solidFill>
            <a:prstDash val="solid"/>
          </a:ln>
        </p:spPr>
      </p:sp>
      <p:sp>
        <p:nvSpPr>
          <p:cNvPr id="6" name="Text 4"/>
          <p:cNvSpPr txBox="1"/>
          <p:nvPr/>
        </p:nvSpPr>
        <p:spPr>
          <a:xfrm>
            <a:off x="685800" y="1463040"/>
            <a:ext cx="2743200" cy="438912"/>
          </a:xfrm>
          <a:prstGeom prst="rect">
            <a:avLst/>
          </a:prstGeom>
          <a:noFill/>
          <a:ln/>
        </p:spPr>
        <p:txBody>
          <a:bodyPr wrap="square" lIns="0" tIns="0" rIns="0" bIns="0" rtlCol="0" anchor="ctr"/>
          <a:lstStyle/>
          <a:p>
            <a:pPr indent="0" marL="0">
              <a:buNone/>
            </a:pPr>
            <a:r>
              <a:rPr lang="en-US" sz="1400" dirty="0">
                <a:solidFill>
                  <a:schemeClr val="tx2"/>
                </a:solidFill>
              </a:rPr>
              <a:t>ソースを読む</a:t>
            </a:r>
            <a:endParaRPr lang="en-US" sz="1400" dirty="0"/>
          </a:p>
        </p:txBody>
      </p:sp>
      <p:sp>
        <p:nvSpPr>
          <p:cNvPr id="7" name="Shape 5"/>
          <p:cNvSpPr/>
          <p:nvPr/>
        </p:nvSpPr>
        <p:spPr>
          <a:xfrm>
            <a:off x="457200" y="2011680"/>
            <a:ext cx="3108960" cy="438912"/>
          </a:xfrm>
          <a:prstGeom prst="roundRect">
            <a:avLst>
              <a:gd name="adj" fmla="val 16667"/>
            </a:avLst>
          </a:prstGeom>
          <a:solidFill>
            <a:srgbClr val="EEF4FB"/>
          </a:solidFill>
          <a:ln w="9525">
            <a:solidFill>
              <a:srgbClr val="EEF4FB"/>
            </a:solidFill>
            <a:prstDash val="solid"/>
          </a:ln>
        </p:spPr>
      </p:sp>
      <p:sp>
        <p:nvSpPr>
          <p:cNvPr id="8" name="Text 6"/>
          <p:cNvSpPr txBox="1"/>
          <p:nvPr/>
        </p:nvSpPr>
        <p:spPr>
          <a:xfrm>
            <a:off x="685800" y="2011680"/>
            <a:ext cx="2743200" cy="438912"/>
          </a:xfrm>
          <a:prstGeom prst="rect">
            <a:avLst/>
          </a:prstGeom>
          <a:noFill/>
          <a:ln/>
        </p:spPr>
        <p:txBody>
          <a:bodyPr wrap="square" lIns="0" tIns="0" rIns="0" bIns="0" rtlCol="0" anchor="ctr"/>
          <a:lstStyle/>
          <a:p>
            <a:pPr indent="0" marL="0">
              <a:buNone/>
            </a:pPr>
            <a:r>
              <a:rPr lang="en-US" sz="1400" dirty="0">
                <a:solidFill>
                  <a:schemeClr val="tx2"/>
                </a:solidFill>
              </a:rPr>
              <a:t>仕様書を読む</a:t>
            </a:r>
            <a:endParaRPr lang="en-US" sz="1400" dirty="0"/>
          </a:p>
        </p:txBody>
      </p:sp>
      <p:sp>
        <p:nvSpPr>
          <p:cNvPr id="9" name="Shape 7"/>
          <p:cNvSpPr/>
          <p:nvPr/>
        </p:nvSpPr>
        <p:spPr>
          <a:xfrm>
            <a:off x="457200" y="2560320"/>
            <a:ext cx="3108960" cy="438912"/>
          </a:xfrm>
          <a:prstGeom prst="roundRect">
            <a:avLst>
              <a:gd name="adj" fmla="val 16667"/>
            </a:avLst>
          </a:prstGeom>
          <a:solidFill>
            <a:srgbClr val="EEF4FB"/>
          </a:solidFill>
          <a:ln w="9525">
            <a:solidFill>
              <a:srgbClr val="EEF4FB"/>
            </a:solidFill>
            <a:prstDash val="solid"/>
          </a:ln>
        </p:spPr>
      </p:sp>
      <p:sp>
        <p:nvSpPr>
          <p:cNvPr id="10" name="Text 8"/>
          <p:cNvSpPr txBox="1"/>
          <p:nvPr/>
        </p:nvSpPr>
        <p:spPr>
          <a:xfrm>
            <a:off x="685800" y="2560320"/>
            <a:ext cx="2743200" cy="438912"/>
          </a:xfrm>
          <a:prstGeom prst="rect">
            <a:avLst/>
          </a:prstGeom>
          <a:noFill/>
          <a:ln/>
        </p:spPr>
        <p:txBody>
          <a:bodyPr wrap="square" lIns="0" tIns="0" rIns="0" bIns="0" rtlCol="0" anchor="ctr"/>
          <a:lstStyle/>
          <a:p>
            <a:pPr indent="0" marL="0">
              <a:buNone/>
            </a:pPr>
            <a:r>
              <a:rPr lang="en-US" sz="1400" dirty="0">
                <a:solidFill>
                  <a:schemeClr val="tx2"/>
                </a:solidFill>
              </a:rPr>
              <a:t>実装を検討する</a:t>
            </a:r>
            <a:endParaRPr lang="en-US" sz="1400" dirty="0"/>
          </a:p>
        </p:txBody>
      </p:sp>
      <p:sp>
        <p:nvSpPr>
          <p:cNvPr id="11" name="Shape 9"/>
          <p:cNvSpPr/>
          <p:nvPr/>
        </p:nvSpPr>
        <p:spPr>
          <a:xfrm>
            <a:off x="457200" y="3108960"/>
            <a:ext cx="3108960" cy="438912"/>
          </a:xfrm>
          <a:prstGeom prst="roundRect">
            <a:avLst>
              <a:gd name="adj" fmla="val 16667"/>
            </a:avLst>
          </a:prstGeom>
          <a:solidFill>
            <a:srgbClr val="EEF4FB"/>
          </a:solidFill>
          <a:ln w="9525">
            <a:solidFill>
              <a:srgbClr val="EEF4FB"/>
            </a:solidFill>
            <a:prstDash val="solid"/>
          </a:ln>
        </p:spPr>
      </p:sp>
      <p:sp>
        <p:nvSpPr>
          <p:cNvPr id="12" name="Text 10"/>
          <p:cNvSpPr txBox="1"/>
          <p:nvPr/>
        </p:nvSpPr>
        <p:spPr>
          <a:xfrm>
            <a:off x="685800" y="3108960"/>
            <a:ext cx="2743200" cy="438912"/>
          </a:xfrm>
          <a:prstGeom prst="rect">
            <a:avLst/>
          </a:prstGeom>
          <a:noFill/>
          <a:ln/>
        </p:spPr>
        <p:txBody>
          <a:bodyPr wrap="square" lIns="0" tIns="0" rIns="0" bIns="0" rtlCol="0" anchor="ctr"/>
          <a:lstStyle/>
          <a:p>
            <a:pPr indent="0" marL="0">
              <a:buNone/>
            </a:pPr>
            <a:r>
              <a:rPr lang="en-US" sz="1400" dirty="0">
                <a:solidFill>
                  <a:schemeClr val="tx2"/>
                </a:solidFill>
              </a:rPr>
              <a:t>タスクに分ける</a:t>
            </a:r>
            <a:endParaRPr lang="en-US" sz="1400" dirty="0"/>
          </a:p>
        </p:txBody>
      </p:sp>
      <p:sp>
        <p:nvSpPr>
          <p:cNvPr id="13" name="Shape 11"/>
          <p:cNvSpPr/>
          <p:nvPr/>
        </p:nvSpPr>
        <p:spPr>
          <a:xfrm>
            <a:off x="457200" y="3657600"/>
            <a:ext cx="3108960" cy="438912"/>
          </a:xfrm>
          <a:prstGeom prst="roundRect">
            <a:avLst>
              <a:gd name="adj" fmla="val 16667"/>
            </a:avLst>
          </a:prstGeom>
          <a:solidFill>
            <a:srgbClr val="EEF4FB"/>
          </a:solidFill>
          <a:ln w="9525">
            <a:solidFill>
              <a:srgbClr val="EEF4FB"/>
            </a:solidFill>
            <a:prstDash val="solid"/>
          </a:ln>
        </p:spPr>
      </p:sp>
      <p:sp>
        <p:nvSpPr>
          <p:cNvPr id="14" name="Text 12"/>
          <p:cNvSpPr txBox="1"/>
          <p:nvPr/>
        </p:nvSpPr>
        <p:spPr>
          <a:xfrm>
            <a:off x="685800" y="3657600"/>
            <a:ext cx="2743200" cy="438912"/>
          </a:xfrm>
          <a:prstGeom prst="rect">
            <a:avLst/>
          </a:prstGeom>
          <a:noFill/>
          <a:ln/>
        </p:spPr>
        <p:txBody>
          <a:bodyPr wrap="square" lIns="0" tIns="0" rIns="0" bIns="0" rtlCol="0" anchor="ctr"/>
          <a:lstStyle/>
          <a:p>
            <a:pPr indent="0" marL="0">
              <a:buNone/>
            </a:pPr>
            <a:r>
              <a:rPr lang="en-US" sz="1400" dirty="0">
                <a:solidFill>
                  <a:schemeClr val="tx2"/>
                </a:solidFill>
              </a:rPr>
              <a:t>工程を組む</a:t>
            </a:r>
            <a:endParaRPr lang="en-US" sz="1400" dirty="0"/>
          </a:p>
        </p:txBody>
      </p:sp>
      <p:sp>
        <p:nvSpPr>
          <p:cNvPr id="15" name="Shape 13"/>
          <p:cNvSpPr/>
          <p:nvPr/>
        </p:nvSpPr>
        <p:spPr>
          <a:xfrm>
            <a:off x="3794760" y="2514600"/>
            <a:ext cx="640080" cy="411480"/>
          </a:xfrm>
          <a:prstGeom prst="rightArrow">
            <a:avLst/>
          </a:prstGeom>
          <a:solidFill>
            <a:srgbClr val="FFB74D"/>
          </a:solidFill>
          <a:ln w="12700">
            <a:solidFill>
              <a:srgbClr val="FFB74D"/>
            </a:solidFill>
            <a:prstDash val="solid"/>
          </a:ln>
        </p:spPr>
      </p:sp>
      <p:sp>
        <p:nvSpPr>
          <p:cNvPr id="16" name="Text 14"/>
          <p:cNvSpPr txBox="1"/>
          <p:nvPr/>
        </p:nvSpPr>
        <p:spPr>
          <a:xfrm>
            <a:off x="4663440" y="1097280"/>
            <a:ext cx="4023360" cy="274320"/>
          </a:xfrm>
          <a:prstGeom prst="rect">
            <a:avLst/>
          </a:prstGeom>
          <a:noFill/>
          <a:ln/>
        </p:spPr>
        <p:txBody>
          <a:bodyPr wrap="square" lIns="0" tIns="0" rIns="0" bIns="0" rtlCol="0" anchor="ctr"/>
          <a:lstStyle/>
          <a:p>
            <a:pPr indent="0" marL="0">
              <a:buNone/>
            </a:pPr>
            <a:r>
              <a:rPr lang="en-US" sz="1200" b="1" dirty="0">
                <a:solidFill>
                  <a:schemeClr val="accent1"/>
                </a:solidFill>
              </a:rPr>
              <a:t>いま（AIのチームに任せる）</a:t>
            </a:r>
            <a:endParaRPr lang="en-US" sz="1200" dirty="0"/>
          </a:p>
        </p:txBody>
      </p:sp>
      <p:sp>
        <p:nvSpPr>
          <p:cNvPr id="17" name="Shape 15"/>
          <p:cNvSpPr/>
          <p:nvPr/>
        </p:nvSpPr>
        <p:spPr>
          <a:xfrm>
            <a:off x="4663440" y="1463040"/>
            <a:ext cx="4023360" cy="438912"/>
          </a:xfrm>
          <a:prstGeom prst="roundRect">
            <a:avLst>
              <a:gd name="adj" fmla="val 16667"/>
            </a:avLst>
          </a:prstGeom>
          <a:solidFill>
            <a:srgbClr val="EEF4FB"/>
          </a:solidFill>
          <a:ln w="9525">
            <a:solidFill>
              <a:srgbClr val="EEF4FB"/>
            </a:solidFill>
            <a:prstDash val="solid"/>
          </a:ln>
        </p:spPr>
      </p:sp>
      <p:sp>
        <p:nvSpPr>
          <p:cNvPr id="18" name="Text 16"/>
          <p:cNvSpPr txBox="1"/>
          <p:nvPr/>
        </p:nvSpPr>
        <p:spPr>
          <a:xfrm>
            <a:off x="4892040" y="1463040"/>
            <a:ext cx="3657600" cy="438912"/>
          </a:xfrm>
          <a:prstGeom prst="rect">
            <a:avLst/>
          </a:prstGeom>
          <a:noFill/>
          <a:ln/>
        </p:spPr>
        <p:txBody>
          <a:bodyPr wrap="square" lIns="0" tIns="0" rIns="0" bIns="0" rtlCol="0" anchor="ctr"/>
          <a:lstStyle/>
          <a:p>
            <a:pPr indent="0" marL="0">
              <a:buNone/>
            </a:pPr>
            <a:r>
              <a:rPr lang="en-US" sz="1300" dirty="0">
                <a:solidFill>
                  <a:schemeClr val="tx2"/>
                </a:solidFill>
              </a:rPr>
              <a:t>依頼を出すと、AIがソースと仕様書を読み込む</a:t>
            </a:r>
            <a:endParaRPr lang="en-US" sz="1300" dirty="0"/>
          </a:p>
        </p:txBody>
      </p:sp>
      <p:sp>
        <p:nvSpPr>
          <p:cNvPr id="19" name="Shape 17"/>
          <p:cNvSpPr/>
          <p:nvPr/>
        </p:nvSpPr>
        <p:spPr>
          <a:xfrm>
            <a:off x="4663440" y="2103120"/>
            <a:ext cx="1280160" cy="1554480"/>
          </a:xfrm>
          <a:prstGeom prst="roundRect">
            <a:avLst>
              <a:gd name="adj" fmla="val 5714"/>
            </a:avLst>
          </a:prstGeom>
          <a:solidFill>
            <a:srgbClr val="1565C0"/>
          </a:solidFill>
          <a:ln w="9525">
            <a:solidFill>
              <a:srgbClr val="1565C0"/>
            </a:solidFill>
            <a:prstDash val="solid"/>
          </a:ln>
        </p:spPr>
      </p:sp>
      <p:sp>
        <p:nvSpPr>
          <p:cNvPr id="20" name="Text 18"/>
          <p:cNvSpPr txBox="1"/>
          <p:nvPr/>
        </p:nvSpPr>
        <p:spPr>
          <a:xfrm>
            <a:off x="4800600" y="2212848"/>
            <a:ext cx="1005840" cy="228600"/>
          </a:xfrm>
          <a:prstGeom prst="rect">
            <a:avLst/>
          </a:prstGeom>
          <a:noFill/>
          <a:ln/>
        </p:spPr>
        <p:txBody>
          <a:bodyPr wrap="square" lIns="0" tIns="0" rIns="0" bIns="0" rtlCol="0" anchor="ctr"/>
          <a:lstStyle/>
          <a:p>
            <a:pPr indent="0" marL="0">
              <a:buNone/>
            </a:pPr>
            <a:r>
              <a:rPr lang="en-US" sz="1000" b="1" dirty="0">
                <a:solidFill>
                  <a:schemeClr val="accent3"/>
                </a:solidFill>
              </a:rPr>
              <a:t>自動で</a:t>
            </a:r>
            <a:endParaRPr lang="en-US" sz="1000" dirty="0"/>
          </a:p>
        </p:txBody>
      </p:sp>
      <p:sp>
        <p:nvSpPr>
          <p:cNvPr id="21" name="Text 19"/>
          <p:cNvSpPr txBox="1"/>
          <p:nvPr/>
        </p:nvSpPr>
        <p:spPr>
          <a:xfrm>
            <a:off x="4800600" y="2468880"/>
            <a:ext cx="1051560" cy="594360"/>
          </a:xfrm>
          <a:prstGeom prst="rect">
            <a:avLst/>
          </a:prstGeom>
          <a:noFill/>
          <a:ln/>
        </p:spPr>
        <p:txBody>
          <a:bodyPr wrap="square" lIns="0" tIns="0" rIns="0" bIns="0" rtlCol="0" anchor="t"/>
          <a:lstStyle/>
          <a:p>
            <a:pPr indent="0" marL="0">
              <a:buNone/>
            </a:pPr>
            <a:r>
              <a:rPr lang="en-US" sz="1600" b="1" dirty="0">
                <a:solidFill>
                  <a:schemeClr val="bg1"/>
                </a:solidFill>
              </a:rPr>
              <a:t>実装の検討</a:t>
            </a:r>
            <a:endParaRPr lang="en-US" sz="1600" dirty="0"/>
          </a:p>
        </p:txBody>
      </p:sp>
      <p:sp>
        <p:nvSpPr>
          <p:cNvPr id="22" name="Text 20"/>
          <p:cNvSpPr txBox="1"/>
          <p:nvPr/>
        </p:nvSpPr>
        <p:spPr>
          <a:xfrm>
            <a:off x="4800600" y="3108960"/>
            <a:ext cx="1051560" cy="457200"/>
          </a:xfrm>
          <a:prstGeom prst="rect">
            <a:avLst/>
          </a:prstGeom>
          <a:noFill/>
          <a:ln/>
        </p:spPr>
        <p:txBody>
          <a:bodyPr wrap="square" lIns="0" tIns="0" rIns="0" bIns="0" rtlCol="0" anchor="t"/>
          <a:lstStyle/>
          <a:p>
            <a:pPr indent="0" marL="0">
              <a:buNone/>
            </a:pPr>
            <a:r>
              <a:rPr lang="en-US" sz="1100" dirty="0">
                <a:solidFill>
                  <a:schemeClr val="bg1"/>
                </a:solidFill>
              </a:rPr>
              <a:t>どう作るか</a:t>
            </a:r>
            <a:endParaRPr lang="en-US" sz="1100" dirty="0"/>
          </a:p>
        </p:txBody>
      </p:sp>
      <p:sp>
        <p:nvSpPr>
          <p:cNvPr id="23" name="Shape 21"/>
          <p:cNvSpPr/>
          <p:nvPr/>
        </p:nvSpPr>
        <p:spPr>
          <a:xfrm>
            <a:off x="6035040" y="2103120"/>
            <a:ext cx="1280160" cy="1554480"/>
          </a:xfrm>
          <a:prstGeom prst="roundRect">
            <a:avLst>
              <a:gd name="adj" fmla="val 5714"/>
            </a:avLst>
          </a:prstGeom>
          <a:solidFill>
            <a:srgbClr val="1565C0"/>
          </a:solidFill>
          <a:ln w="9525">
            <a:solidFill>
              <a:srgbClr val="1565C0"/>
            </a:solidFill>
            <a:prstDash val="solid"/>
          </a:ln>
        </p:spPr>
      </p:sp>
      <p:sp>
        <p:nvSpPr>
          <p:cNvPr id="24" name="Text 22"/>
          <p:cNvSpPr txBox="1"/>
          <p:nvPr/>
        </p:nvSpPr>
        <p:spPr>
          <a:xfrm>
            <a:off x="6172200" y="2212848"/>
            <a:ext cx="1005840" cy="228600"/>
          </a:xfrm>
          <a:prstGeom prst="rect">
            <a:avLst/>
          </a:prstGeom>
          <a:noFill/>
          <a:ln/>
        </p:spPr>
        <p:txBody>
          <a:bodyPr wrap="square" lIns="0" tIns="0" rIns="0" bIns="0" rtlCol="0" anchor="ctr"/>
          <a:lstStyle/>
          <a:p>
            <a:pPr indent="0" marL="0">
              <a:buNone/>
            </a:pPr>
            <a:r>
              <a:rPr lang="en-US" sz="1000" b="1" dirty="0">
                <a:solidFill>
                  <a:schemeClr val="accent3"/>
                </a:solidFill>
              </a:rPr>
              <a:t>自動で</a:t>
            </a:r>
            <a:endParaRPr lang="en-US" sz="1000" dirty="0"/>
          </a:p>
        </p:txBody>
      </p:sp>
      <p:sp>
        <p:nvSpPr>
          <p:cNvPr id="25" name="Text 23"/>
          <p:cNvSpPr txBox="1"/>
          <p:nvPr/>
        </p:nvSpPr>
        <p:spPr>
          <a:xfrm>
            <a:off x="6172200" y="2468880"/>
            <a:ext cx="1051560" cy="594360"/>
          </a:xfrm>
          <a:prstGeom prst="rect">
            <a:avLst/>
          </a:prstGeom>
          <a:noFill/>
          <a:ln/>
        </p:spPr>
        <p:txBody>
          <a:bodyPr wrap="square" lIns="0" tIns="0" rIns="0" bIns="0" rtlCol="0" anchor="t"/>
          <a:lstStyle/>
          <a:p>
            <a:pPr indent="0" marL="0">
              <a:buNone/>
            </a:pPr>
            <a:r>
              <a:rPr lang="en-US" sz="1600" b="1" dirty="0">
                <a:solidFill>
                  <a:schemeClr val="bg1"/>
                </a:solidFill>
              </a:rPr>
              <a:t>タスク分け</a:t>
            </a:r>
            <a:endParaRPr lang="en-US" sz="1600" dirty="0"/>
          </a:p>
        </p:txBody>
      </p:sp>
      <p:sp>
        <p:nvSpPr>
          <p:cNvPr id="26" name="Text 24"/>
          <p:cNvSpPr txBox="1"/>
          <p:nvPr/>
        </p:nvSpPr>
        <p:spPr>
          <a:xfrm>
            <a:off x="6172200" y="3108960"/>
            <a:ext cx="1051560" cy="457200"/>
          </a:xfrm>
          <a:prstGeom prst="rect">
            <a:avLst/>
          </a:prstGeom>
          <a:noFill/>
          <a:ln/>
        </p:spPr>
        <p:txBody>
          <a:bodyPr wrap="square" lIns="0" tIns="0" rIns="0" bIns="0" rtlCol="0" anchor="t"/>
          <a:lstStyle/>
          <a:p>
            <a:pPr indent="0" marL="0">
              <a:buNone/>
            </a:pPr>
            <a:r>
              <a:rPr lang="en-US" sz="1100" dirty="0">
                <a:solidFill>
                  <a:schemeClr val="bg1"/>
                </a:solidFill>
              </a:rPr>
              <a:t>誰が何をやるか</a:t>
            </a:r>
            <a:endParaRPr lang="en-US" sz="1100" dirty="0"/>
          </a:p>
        </p:txBody>
      </p:sp>
      <p:sp>
        <p:nvSpPr>
          <p:cNvPr id="27" name="Shape 25"/>
          <p:cNvSpPr/>
          <p:nvPr/>
        </p:nvSpPr>
        <p:spPr>
          <a:xfrm>
            <a:off x="7406640" y="2103120"/>
            <a:ext cx="1280160" cy="1554480"/>
          </a:xfrm>
          <a:prstGeom prst="roundRect">
            <a:avLst>
              <a:gd name="adj" fmla="val 5714"/>
            </a:avLst>
          </a:prstGeom>
          <a:solidFill>
            <a:srgbClr val="1565C0"/>
          </a:solidFill>
          <a:ln w="9525">
            <a:solidFill>
              <a:srgbClr val="1565C0"/>
            </a:solidFill>
            <a:prstDash val="solid"/>
          </a:ln>
        </p:spPr>
      </p:sp>
      <p:sp>
        <p:nvSpPr>
          <p:cNvPr id="28" name="Text 26"/>
          <p:cNvSpPr txBox="1"/>
          <p:nvPr/>
        </p:nvSpPr>
        <p:spPr>
          <a:xfrm>
            <a:off x="7543800" y="2212848"/>
            <a:ext cx="1005840" cy="228600"/>
          </a:xfrm>
          <a:prstGeom prst="rect">
            <a:avLst/>
          </a:prstGeom>
          <a:noFill/>
          <a:ln/>
        </p:spPr>
        <p:txBody>
          <a:bodyPr wrap="square" lIns="0" tIns="0" rIns="0" bIns="0" rtlCol="0" anchor="ctr"/>
          <a:lstStyle/>
          <a:p>
            <a:pPr indent="0" marL="0">
              <a:buNone/>
            </a:pPr>
            <a:r>
              <a:rPr lang="en-US" sz="1000" b="1" dirty="0">
                <a:solidFill>
                  <a:schemeClr val="accent3"/>
                </a:solidFill>
              </a:rPr>
              <a:t>自動で</a:t>
            </a:r>
            <a:endParaRPr lang="en-US" sz="1000" dirty="0"/>
          </a:p>
        </p:txBody>
      </p:sp>
      <p:sp>
        <p:nvSpPr>
          <p:cNvPr id="29" name="Text 27"/>
          <p:cNvSpPr txBox="1"/>
          <p:nvPr/>
        </p:nvSpPr>
        <p:spPr>
          <a:xfrm>
            <a:off x="7543800" y="2468880"/>
            <a:ext cx="1051560" cy="594360"/>
          </a:xfrm>
          <a:prstGeom prst="rect">
            <a:avLst/>
          </a:prstGeom>
          <a:noFill/>
          <a:ln/>
        </p:spPr>
        <p:txBody>
          <a:bodyPr wrap="square" lIns="0" tIns="0" rIns="0" bIns="0" rtlCol="0" anchor="t"/>
          <a:lstStyle/>
          <a:p>
            <a:pPr indent="0" marL="0">
              <a:buNone/>
            </a:pPr>
            <a:r>
              <a:rPr lang="en-US" sz="1600" b="1" dirty="0">
                <a:solidFill>
                  <a:schemeClr val="bg1"/>
                </a:solidFill>
              </a:rPr>
              <a:t>工程</a:t>
            </a:r>
            <a:endParaRPr lang="en-US" sz="1600" dirty="0"/>
          </a:p>
        </p:txBody>
      </p:sp>
      <p:sp>
        <p:nvSpPr>
          <p:cNvPr id="30" name="Text 28"/>
          <p:cNvSpPr txBox="1"/>
          <p:nvPr/>
        </p:nvSpPr>
        <p:spPr>
          <a:xfrm>
            <a:off x="7543800" y="3108960"/>
            <a:ext cx="1051560" cy="457200"/>
          </a:xfrm>
          <a:prstGeom prst="rect">
            <a:avLst/>
          </a:prstGeom>
          <a:noFill/>
          <a:ln/>
        </p:spPr>
        <p:txBody>
          <a:bodyPr wrap="square" lIns="0" tIns="0" rIns="0" bIns="0" rtlCol="0" anchor="t"/>
          <a:lstStyle/>
          <a:p>
            <a:pPr indent="0" marL="0">
              <a:buNone/>
            </a:pPr>
            <a:r>
              <a:rPr lang="en-US" sz="1100" dirty="0">
                <a:solidFill>
                  <a:schemeClr val="bg1"/>
                </a:solidFill>
              </a:rPr>
              <a:t>いつまでに何を</a:t>
            </a:r>
            <a:endParaRPr lang="en-US" sz="1100" dirty="0"/>
          </a:p>
        </p:txBody>
      </p:sp>
      <p:sp>
        <p:nvSpPr>
          <p:cNvPr id="31" name="Text 29"/>
          <p:cNvSpPr txBox="1"/>
          <p:nvPr/>
        </p:nvSpPr>
        <p:spPr>
          <a:xfrm>
            <a:off x="4663440" y="3840480"/>
            <a:ext cx="4023360" cy="457200"/>
          </a:xfrm>
          <a:prstGeom prst="rect">
            <a:avLst/>
          </a:prstGeom>
          <a:noFill/>
          <a:ln/>
        </p:spPr>
        <p:txBody>
          <a:bodyPr wrap="square" lIns="0" tIns="0" rIns="0" bIns="0" rtlCol="0" anchor="t"/>
          <a:lstStyle/>
          <a:p>
            <a:pPr indent="0" marL="0">
              <a:buNone/>
            </a:pPr>
            <a:r>
              <a:rPr lang="en-US" sz="1300" b="1" dirty="0">
                <a:solidFill>
                  <a:schemeClr val="tx1"/>
                </a:solidFill>
              </a:rPr>
              <a:t>人は、出てきた案の「判断」に集中できる。</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Q2 ｜ 実現できたこと</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約5000を読み込み、人の判断が要るのは800に</a:t>
            </a:r>
            <a:endParaRPr lang="en-US" sz="2600" dirty="0"/>
          </a:p>
        </p:txBody>
      </p:sp>
      <p:pic>
        <p:nvPicPr>
          <p:cNvPr id="4" name="Image 0" descr="questions">    </p:cNvPr>
          <p:cNvPicPr>
            <a:picLocks noChangeAspect="1"/>
          </p:cNvPicPr>
          <p:nvPr/>
        </p:nvPicPr>
        <p:blipFill>
          <a:blip r:embed="rId1"/>
          <a:stretch>
            <a:fillRect/>
          </a:stretch>
        </p:blipFill>
        <p:spPr>
          <a:xfrm>
            <a:off x="365760" y="1188720"/>
            <a:ext cx="4480560" cy="3136392"/>
          </a:xfrm>
          <a:prstGeom prst="rect">
            <a:avLst/>
          </a:prstGeom>
        </p:spPr>
      </p:pic>
      <p:sp>
        <p:nvSpPr>
          <p:cNvPr id="5" name="Text 2"/>
          <p:cNvSpPr txBox="1"/>
          <p:nvPr/>
        </p:nvSpPr>
        <p:spPr>
          <a:xfrm>
            <a:off x="5120640" y="1143000"/>
            <a:ext cx="3657600" cy="274320"/>
          </a:xfrm>
          <a:prstGeom prst="rect">
            <a:avLst/>
          </a:prstGeom>
          <a:noFill/>
          <a:ln/>
        </p:spPr>
        <p:txBody>
          <a:bodyPr wrap="square" lIns="0" tIns="0" rIns="0" bIns="0" rtlCol="0" anchor="ctr"/>
          <a:lstStyle/>
          <a:p>
            <a:pPr indent="0" marL="0">
              <a:buNone/>
            </a:pPr>
            <a:r>
              <a:rPr lang="en-US" sz="1300" b="1" dirty="0">
                <a:solidFill>
                  <a:schemeClr val="accent6"/>
                </a:solidFill>
              </a:rPr>
              <a:t>AIが読み込んだアイテム</a:t>
            </a:r>
            <a:endParaRPr lang="en-US" sz="1300" dirty="0"/>
          </a:p>
        </p:txBody>
      </p:sp>
      <p:sp>
        <p:nvSpPr>
          <p:cNvPr id="6" name="Text 3"/>
          <p:cNvSpPr txBox="1"/>
          <p:nvPr/>
        </p:nvSpPr>
        <p:spPr>
          <a:xfrm>
            <a:off x="5120640" y="1417320"/>
            <a:ext cx="3657600" cy="640080"/>
          </a:xfrm>
          <a:prstGeom prst="rect">
            <a:avLst/>
          </a:prstGeom>
          <a:noFill/>
          <a:ln/>
        </p:spPr>
        <p:txBody>
          <a:bodyPr wrap="square" lIns="0" tIns="0" rIns="0" bIns="0" rtlCol="0" anchor="ctr"/>
          <a:lstStyle/>
          <a:p>
            <a:pPr indent="0" marL="0">
              <a:buNone/>
            </a:pPr>
            <a:r>
              <a:rPr lang="en-US" sz="4000" b="1" dirty="0">
                <a:solidFill>
                  <a:schemeClr val="tx2"/>
                </a:solidFill>
              </a:rPr>
              <a:t>約5000</a:t>
            </a:r>
            <a:pPr indent="0" marL="0">
              <a:buNone/>
            </a:pPr>
            <a:r>
              <a:rPr lang="en-US" sz="1800" b="1" dirty="0">
                <a:solidFill>
                  <a:schemeClr val="tx2"/>
                </a:solidFill>
              </a:rPr>
              <a:t> 件</a:t>
            </a:r>
            <a:endParaRPr lang="en-US" sz="4000" dirty="0"/>
          </a:p>
        </p:txBody>
      </p:sp>
      <p:sp>
        <p:nvSpPr>
          <p:cNvPr id="7" name="Shape 4"/>
          <p:cNvSpPr/>
          <p:nvPr/>
        </p:nvSpPr>
        <p:spPr>
          <a:xfrm>
            <a:off x="5257800" y="2103120"/>
            <a:ext cx="320040" cy="320040"/>
          </a:xfrm>
          <a:prstGeom prst="downArrow">
            <a:avLst/>
          </a:prstGeom>
          <a:solidFill>
            <a:srgbClr val="FFB74D"/>
          </a:solidFill>
          <a:ln w="12700">
            <a:solidFill>
              <a:srgbClr val="FFB74D"/>
            </a:solidFill>
            <a:prstDash val="solid"/>
          </a:ln>
        </p:spPr>
      </p:sp>
      <p:sp>
        <p:nvSpPr>
          <p:cNvPr id="8" name="Text 5"/>
          <p:cNvSpPr txBox="1"/>
          <p:nvPr/>
        </p:nvSpPr>
        <p:spPr>
          <a:xfrm>
            <a:off x="5715000" y="2130552"/>
            <a:ext cx="3017520" cy="274320"/>
          </a:xfrm>
          <a:prstGeom prst="rect">
            <a:avLst/>
          </a:prstGeom>
          <a:noFill/>
          <a:ln/>
        </p:spPr>
        <p:txBody>
          <a:bodyPr wrap="square" lIns="0" tIns="0" rIns="0" bIns="0" rtlCol="0" anchor="ctr"/>
          <a:lstStyle/>
          <a:p>
            <a:pPr indent="0" marL="0">
              <a:buNone/>
            </a:pPr>
            <a:r>
              <a:rPr lang="en-US" sz="1300" b="1" dirty="0">
                <a:solidFill>
                  <a:schemeClr val="accent1"/>
                </a:solidFill>
              </a:rPr>
              <a:t>人の判断が必要</a:t>
            </a:r>
            <a:endParaRPr lang="en-US" sz="1300" dirty="0"/>
          </a:p>
        </p:txBody>
      </p:sp>
      <p:sp>
        <p:nvSpPr>
          <p:cNvPr id="9" name="Text 6"/>
          <p:cNvSpPr txBox="1"/>
          <p:nvPr/>
        </p:nvSpPr>
        <p:spPr>
          <a:xfrm>
            <a:off x="5120640" y="2423160"/>
            <a:ext cx="3657600" cy="914400"/>
          </a:xfrm>
          <a:prstGeom prst="rect">
            <a:avLst/>
          </a:prstGeom>
          <a:noFill/>
          <a:ln/>
        </p:spPr>
        <p:txBody>
          <a:bodyPr wrap="square" lIns="0" tIns="0" rIns="0" bIns="0" rtlCol="0" anchor="ctr"/>
          <a:lstStyle/>
          <a:p>
            <a:pPr indent="0" marL="0">
              <a:buNone/>
            </a:pPr>
            <a:r>
              <a:rPr lang="en-US" sz="6600" b="1" dirty="0">
                <a:solidFill>
                  <a:schemeClr val="accent1"/>
                </a:solidFill>
              </a:rPr>
              <a:t>800</a:t>
            </a:r>
            <a:pPr indent="0" marL="0">
              <a:buNone/>
            </a:pPr>
            <a:r>
              <a:rPr lang="en-US" sz="2400" b="1" dirty="0">
                <a:solidFill>
                  <a:schemeClr val="tx1"/>
                </a:solidFill>
              </a:rPr>
              <a:t> 件</a:t>
            </a:r>
            <a:endParaRPr lang="en-US" sz="6600" dirty="0"/>
          </a:p>
        </p:txBody>
      </p:sp>
      <p:sp>
        <p:nvSpPr>
          <p:cNvPr id="10" name="Shape 7"/>
          <p:cNvSpPr/>
          <p:nvPr/>
        </p:nvSpPr>
        <p:spPr>
          <a:xfrm>
            <a:off x="5120640" y="3474720"/>
            <a:ext cx="3566160" cy="914400"/>
          </a:xfrm>
          <a:prstGeom prst="roundRect">
            <a:avLst>
              <a:gd name="adj" fmla="val 8000"/>
            </a:avLst>
          </a:prstGeom>
          <a:solidFill>
            <a:srgbClr val="EEF4FB"/>
          </a:solidFill>
          <a:ln w="9525">
            <a:solidFill>
              <a:srgbClr val="EEF4FB"/>
            </a:solidFill>
            <a:prstDash val="solid"/>
          </a:ln>
        </p:spPr>
      </p:sp>
      <p:sp>
        <p:nvSpPr>
          <p:cNvPr id="11" name="Text 8"/>
          <p:cNvSpPr txBox="1"/>
          <p:nvPr/>
        </p:nvSpPr>
        <p:spPr>
          <a:xfrm>
            <a:off x="5303520" y="3520440"/>
            <a:ext cx="3291840" cy="822960"/>
          </a:xfrm>
          <a:prstGeom prst="rect">
            <a:avLst/>
          </a:prstGeom>
          <a:noFill/>
          <a:ln/>
        </p:spPr>
        <p:txBody>
          <a:bodyPr wrap="square" lIns="0" tIns="0" rIns="0" bIns="0" rtlCol="0" anchor="ctr"/>
          <a:lstStyle/>
          <a:p>
            <a:pPr marL="342900" indent="-342900">
              <a:spcAft>
                <a:spcPts val="200"/>
              </a:spcAft>
              <a:buSzPct val="100000"/>
              <a:buChar char="•"/>
            </a:pPr>
            <a:r>
              <a:rPr lang="en-US" sz="1200" dirty="0">
                <a:solidFill>
                  <a:schemeClr val="tx2"/>
                </a:solidFill>
              </a:rPr>
              <a:t>読み込み・整理まではAIが進める</a:t>
            </a:r>
            <a:endParaRPr lang="en-US" sz="1200" dirty="0"/>
          </a:p>
          <a:p>
            <a:pPr marL="342900" indent="-342900">
              <a:spcAft>
                <a:spcPts val="200"/>
              </a:spcAft>
              <a:buSzPct val="100000"/>
              <a:buChar char="•"/>
            </a:pPr>
            <a:r>
              <a:rPr lang="en-US" sz="1200" dirty="0">
                <a:solidFill>
                  <a:schemeClr val="tx2"/>
                </a:solidFill>
              </a:rPr>
              <a:t>矛盾など、人が決めることが残る</a:t>
            </a:r>
            <a:endParaRPr lang="en-US" sz="1200" dirty="0"/>
          </a:p>
          <a:p>
            <a:pPr marL="342900" indent="-342900">
              <a:spcAft>
                <a:spcPts val="200"/>
              </a:spcAft>
              <a:buSzPct val="100000"/>
              <a:buChar char="•"/>
            </a:pPr>
            <a:r>
              <a:rPr lang="en-US" sz="1200" b="1" dirty="0">
                <a:solidFill>
                  <a:schemeClr val="tx1"/>
                </a:solidFill>
              </a:rPr>
              <a:t>人の判断待ちが新たな詰まりに</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Q2 ｜ 実現できたこと</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そこで、アドバイザーを置いた</a:t>
            </a:r>
            <a:endParaRPr lang="en-US" sz="2600" dirty="0"/>
          </a:p>
        </p:txBody>
      </p:sp>
      <p:sp>
        <p:nvSpPr>
          <p:cNvPr id="4" name="Shape 2"/>
          <p:cNvSpPr/>
          <p:nvPr/>
        </p:nvSpPr>
        <p:spPr>
          <a:xfrm>
            <a:off x="457200" y="987552"/>
            <a:ext cx="1920240" cy="329184"/>
          </a:xfrm>
          <a:prstGeom prst="roundRect">
            <a:avLst>
              <a:gd name="adj" fmla="val 22222"/>
            </a:avLst>
          </a:prstGeom>
          <a:solidFill>
            <a:srgbClr val="EEF4FB"/>
          </a:solidFill>
          <a:ln w="9525">
            <a:solidFill>
              <a:srgbClr val="EEF4FB"/>
            </a:solidFill>
            <a:prstDash val="solid"/>
          </a:ln>
        </p:spPr>
      </p:sp>
      <p:sp>
        <p:nvSpPr>
          <p:cNvPr id="5" name="Text 3"/>
          <p:cNvSpPr txBox="1"/>
          <p:nvPr/>
        </p:nvSpPr>
        <p:spPr>
          <a:xfrm>
            <a:off x="45720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6"/>
                </a:solidFill>
              </a:rPr>
              <a:t>STEP 1　</a:t>
            </a:r>
            <a:pPr algn="ctr" indent="0" marL="0">
              <a:buNone/>
            </a:pPr>
            <a:r>
              <a:rPr lang="en-US" sz="1200" b="1" dirty="0">
                <a:solidFill>
                  <a:schemeClr val="tx2"/>
                </a:solidFill>
              </a:rPr>
              <a:t>単発</a:t>
            </a:r>
            <a:endParaRPr lang="en-US" sz="1200" dirty="0"/>
          </a:p>
        </p:txBody>
      </p:sp>
      <p:sp>
        <p:nvSpPr>
          <p:cNvPr id="6" name="Shape 4"/>
          <p:cNvSpPr/>
          <p:nvPr/>
        </p:nvSpPr>
        <p:spPr>
          <a:xfrm>
            <a:off x="2395728" y="1069848"/>
            <a:ext cx="146304" cy="164592"/>
          </a:xfrm>
          <a:prstGeom prst="rightArrow">
            <a:avLst/>
          </a:prstGeom>
          <a:solidFill>
            <a:srgbClr val="FFB74D"/>
          </a:solidFill>
          <a:ln w="12700">
            <a:solidFill>
              <a:srgbClr val="FFB74D"/>
            </a:solidFill>
            <a:prstDash val="solid"/>
          </a:ln>
        </p:spPr>
      </p:sp>
      <p:sp>
        <p:nvSpPr>
          <p:cNvPr id="7" name="Shape 5"/>
          <p:cNvSpPr/>
          <p:nvPr/>
        </p:nvSpPr>
        <p:spPr>
          <a:xfrm>
            <a:off x="2560320" y="987552"/>
            <a:ext cx="1920240" cy="329184"/>
          </a:xfrm>
          <a:prstGeom prst="roundRect">
            <a:avLst>
              <a:gd name="adj" fmla="val 22222"/>
            </a:avLst>
          </a:prstGeom>
          <a:solidFill>
            <a:srgbClr val="EEF4FB"/>
          </a:solidFill>
          <a:ln w="9525">
            <a:solidFill>
              <a:srgbClr val="EEF4FB"/>
            </a:solidFill>
            <a:prstDash val="solid"/>
          </a:ln>
        </p:spPr>
      </p:sp>
      <p:sp>
        <p:nvSpPr>
          <p:cNvPr id="8" name="Text 6"/>
          <p:cNvSpPr txBox="1"/>
          <p:nvPr/>
        </p:nvSpPr>
        <p:spPr>
          <a:xfrm>
            <a:off x="256032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6"/>
                </a:solidFill>
              </a:rPr>
              <a:t>STEP 2　</a:t>
            </a:r>
            <a:pPr algn="ctr" indent="0" marL="0">
              <a:buNone/>
            </a:pPr>
            <a:r>
              <a:rPr lang="en-US" sz="1200" b="1" dirty="0">
                <a:solidFill>
                  <a:schemeClr val="tx2"/>
                </a:solidFill>
              </a:rPr>
              <a:t>複数</a:t>
            </a:r>
            <a:endParaRPr lang="en-US" sz="1200" dirty="0"/>
          </a:p>
        </p:txBody>
      </p:sp>
      <p:sp>
        <p:nvSpPr>
          <p:cNvPr id="9" name="Shape 7"/>
          <p:cNvSpPr/>
          <p:nvPr/>
        </p:nvSpPr>
        <p:spPr>
          <a:xfrm>
            <a:off x="4498848" y="1069848"/>
            <a:ext cx="146304" cy="164592"/>
          </a:xfrm>
          <a:prstGeom prst="rightArrow">
            <a:avLst/>
          </a:prstGeom>
          <a:solidFill>
            <a:srgbClr val="FFB74D"/>
          </a:solidFill>
          <a:ln w="12700">
            <a:solidFill>
              <a:srgbClr val="FFB74D"/>
            </a:solidFill>
            <a:prstDash val="solid"/>
          </a:ln>
        </p:spPr>
      </p:sp>
      <p:sp>
        <p:nvSpPr>
          <p:cNvPr id="10" name="Shape 8"/>
          <p:cNvSpPr/>
          <p:nvPr/>
        </p:nvSpPr>
        <p:spPr>
          <a:xfrm>
            <a:off x="4663440" y="987552"/>
            <a:ext cx="1920240" cy="329184"/>
          </a:xfrm>
          <a:prstGeom prst="roundRect">
            <a:avLst>
              <a:gd name="adj" fmla="val 22222"/>
            </a:avLst>
          </a:prstGeom>
          <a:solidFill>
            <a:srgbClr val="EEF4FB"/>
          </a:solidFill>
          <a:ln w="9525">
            <a:solidFill>
              <a:srgbClr val="EEF4FB"/>
            </a:solidFill>
            <a:prstDash val="solid"/>
          </a:ln>
        </p:spPr>
      </p:sp>
      <p:sp>
        <p:nvSpPr>
          <p:cNvPr id="11" name="Text 9"/>
          <p:cNvSpPr txBox="1"/>
          <p:nvPr/>
        </p:nvSpPr>
        <p:spPr>
          <a:xfrm>
            <a:off x="466344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6"/>
                </a:solidFill>
              </a:rPr>
              <a:t>STEP 3　</a:t>
            </a:r>
            <a:pPr algn="ctr" indent="0" marL="0">
              <a:buNone/>
            </a:pPr>
            <a:r>
              <a:rPr lang="en-US" sz="1200" b="1" dirty="0">
                <a:solidFill>
                  <a:schemeClr val="tx2"/>
                </a:solidFill>
              </a:rPr>
              <a:t>人事部</a:t>
            </a:r>
            <a:endParaRPr lang="en-US" sz="1200" dirty="0"/>
          </a:p>
        </p:txBody>
      </p:sp>
      <p:sp>
        <p:nvSpPr>
          <p:cNvPr id="12" name="Shape 10"/>
          <p:cNvSpPr/>
          <p:nvPr/>
        </p:nvSpPr>
        <p:spPr>
          <a:xfrm>
            <a:off x="6601968" y="1069848"/>
            <a:ext cx="146304" cy="164592"/>
          </a:xfrm>
          <a:prstGeom prst="rightArrow">
            <a:avLst/>
          </a:prstGeom>
          <a:solidFill>
            <a:srgbClr val="FFB74D"/>
          </a:solidFill>
          <a:ln w="12700">
            <a:solidFill>
              <a:srgbClr val="FFB74D"/>
            </a:solidFill>
            <a:prstDash val="solid"/>
          </a:ln>
        </p:spPr>
      </p:sp>
      <p:sp>
        <p:nvSpPr>
          <p:cNvPr id="13" name="Shape 11"/>
          <p:cNvSpPr/>
          <p:nvPr/>
        </p:nvSpPr>
        <p:spPr>
          <a:xfrm>
            <a:off x="6766560" y="987552"/>
            <a:ext cx="1920240" cy="329184"/>
          </a:xfrm>
          <a:prstGeom prst="roundRect">
            <a:avLst>
              <a:gd name="adj" fmla="val 22222"/>
            </a:avLst>
          </a:prstGeom>
          <a:solidFill>
            <a:srgbClr val="1565C0"/>
          </a:solidFill>
          <a:ln w="9525">
            <a:solidFill>
              <a:srgbClr val="1565C0"/>
            </a:solidFill>
            <a:prstDash val="solid"/>
          </a:ln>
        </p:spPr>
      </p:sp>
      <p:sp>
        <p:nvSpPr>
          <p:cNvPr id="14" name="Text 12"/>
          <p:cNvSpPr txBox="1"/>
          <p:nvPr/>
        </p:nvSpPr>
        <p:spPr>
          <a:xfrm>
            <a:off x="6766560" y="987552"/>
            <a:ext cx="1920240" cy="329184"/>
          </a:xfrm>
          <a:prstGeom prst="rect">
            <a:avLst/>
          </a:prstGeom>
          <a:noFill/>
          <a:ln/>
        </p:spPr>
        <p:txBody>
          <a:bodyPr wrap="square" lIns="0" tIns="0" rIns="0" bIns="0" rtlCol="0" anchor="ctr"/>
          <a:lstStyle/>
          <a:p>
            <a:pPr algn="ctr" indent="0" marL="0">
              <a:buNone/>
            </a:pPr>
            <a:r>
              <a:rPr lang="en-US" sz="900" b="1" dirty="0">
                <a:solidFill>
                  <a:schemeClr val="accent3"/>
                </a:solidFill>
              </a:rPr>
              <a:t>STEP 4　</a:t>
            </a:r>
            <a:pPr algn="ctr" indent="0" marL="0">
              <a:buNone/>
            </a:pPr>
            <a:r>
              <a:rPr lang="en-US" sz="1200" b="1" dirty="0">
                <a:solidFill>
                  <a:schemeClr val="bg1"/>
                </a:solidFill>
              </a:rPr>
              <a:t>アドバイザー</a:t>
            </a:r>
            <a:endParaRPr lang="en-US" sz="1200" dirty="0"/>
          </a:p>
        </p:txBody>
      </p:sp>
      <p:pic>
        <p:nvPicPr>
          <p:cNvPr id="15" name="Image 0" descr="advisor">    </p:cNvPr>
          <p:cNvPicPr>
            <a:picLocks noChangeAspect="1"/>
          </p:cNvPicPr>
          <p:nvPr/>
        </p:nvPicPr>
        <p:blipFill>
          <a:blip r:embed="rId1"/>
          <a:stretch>
            <a:fillRect/>
          </a:stretch>
        </p:blipFill>
        <p:spPr>
          <a:xfrm>
            <a:off x="457200" y="1463040"/>
            <a:ext cx="3803176" cy="3017520"/>
          </a:xfrm>
          <a:prstGeom prst="rect">
            <a:avLst/>
          </a:prstGeom>
        </p:spPr>
      </p:pic>
      <p:sp>
        <p:nvSpPr>
          <p:cNvPr id="16" name="Text 13"/>
          <p:cNvSpPr txBox="1"/>
          <p:nvPr/>
        </p:nvSpPr>
        <p:spPr>
          <a:xfrm>
            <a:off x="4572000" y="1554480"/>
            <a:ext cx="4114800" cy="320040"/>
          </a:xfrm>
          <a:prstGeom prst="rect">
            <a:avLst/>
          </a:prstGeom>
          <a:noFill/>
          <a:ln/>
        </p:spPr>
        <p:txBody>
          <a:bodyPr wrap="square" lIns="0" tIns="0" rIns="0" bIns="0" rtlCol="0" anchor="ctr"/>
          <a:lstStyle/>
          <a:p>
            <a:pPr indent="0" marL="0">
              <a:buNone/>
            </a:pPr>
            <a:r>
              <a:rPr lang="en-US" sz="1400" b="1" dirty="0">
                <a:solidFill>
                  <a:schemeClr val="tx1"/>
                </a:solidFill>
              </a:rPr>
              <a:t>複数のチームに、助言・コンサルをする</a:t>
            </a:r>
            <a:endParaRPr lang="en-US" sz="1400" dirty="0"/>
          </a:p>
        </p:txBody>
      </p:sp>
      <p:sp>
        <p:nvSpPr>
          <p:cNvPr id="17" name="Shape 14"/>
          <p:cNvSpPr/>
          <p:nvPr/>
        </p:nvSpPr>
        <p:spPr>
          <a:xfrm>
            <a:off x="4572000" y="2011680"/>
            <a:ext cx="4114800" cy="1051560"/>
          </a:xfrm>
          <a:prstGeom prst="roundRect">
            <a:avLst>
              <a:gd name="adj" fmla="val 6957"/>
            </a:avLst>
          </a:prstGeom>
          <a:solidFill>
            <a:srgbClr val="EEF4FB"/>
          </a:solidFill>
          <a:ln w="9525">
            <a:solidFill>
              <a:srgbClr val="EEF4FB"/>
            </a:solidFill>
            <a:prstDash val="solid"/>
          </a:ln>
        </p:spPr>
      </p:sp>
      <p:sp>
        <p:nvSpPr>
          <p:cNvPr id="18" name="Text 15"/>
          <p:cNvSpPr txBox="1"/>
          <p:nvPr/>
        </p:nvSpPr>
        <p:spPr>
          <a:xfrm>
            <a:off x="4754880" y="2103120"/>
            <a:ext cx="3749040" cy="320040"/>
          </a:xfrm>
          <a:prstGeom prst="rect">
            <a:avLst/>
          </a:prstGeom>
          <a:noFill/>
          <a:ln/>
        </p:spPr>
        <p:txBody>
          <a:bodyPr wrap="square" lIns="0" tIns="0" rIns="0" bIns="0" rtlCol="0" anchor="ctr"/>
          <a:lstStyle/>
          <a:p>
            <a:pPr indent="0" marL="0">
              <a:buNone/>
            </a:pPr>
            <a:r>
              <a:rPr lang="en-US" sz="1500" b="1" dirty="0">
                <a:solidFill>
                  <a:schemeClr val="accent1"/>
                </a:solidFill>
              </a:rPr>
              <a:t>判断のアドバイザー</a:t>
            </a:r>
            <a:endParaRPr lang="en-US" sz="1500" dirty="0"/>
          </a:p>
        </p:txBody>
      </p:sp>
      <p:sp>
        <p:nvSpPr>
          <p:cNvPr id="19" name="Text 16"/>
          <p:cNvSpPr txBox="1"/>
          <p:nvPr/>
        </p:nvSpPr>
        <p:spPr>
          <a:xfrm>
            <a:off x="4754880" y="2450592"/>
            <a:ext cx="3749040" cy="548640"/>
          </a:xfrm>
          <a:prstGeom prst="rect">
            <a:avLst/>
          </a:prstGeom>
          <a:noFill/>
          <a:ln/>
        </p:spPr>
        <p:txBody>
          <a:bodyPr wrap="square" lIns="0" tIns="0" rIns="0" bIns="0" rtlCol="0" anchor="t"/>
          <a:lstStyle/>
          <a:p>
            <a:pPr indent="0" marL="0">
              <a:lnSpc>
                <a:spcPct val="115000"/>
              </a:lnSpc>
              <a:buNone/>
            </a:pPr>
            <a:r>
              <a:rPr lang="en-US" sz="1200" dirty="0">
                <a:solidFill>
                  <a:schemeClr val="tx2"/>
                </a:solidFill>
              </a:rPr>
              <a:t>判断しやすい材料とは何かを考え、人が決めやすい形にそろえる</a:t>
            </a:r>
            <a:endParaRPr lang="en-US" sz="1200" dirty="0"/>
          </a:p>
        </p:txBody>
      </p:sp>
      <p:sp>
        <p:nvSpPr>
          <p:cNvPr id="20" name="Shape 17"/>
          <p:cNvSpPr/>
          <p:nvPr/>
        </p:nvSpPr>
        <p:spPr>
          <a:xfrm>
            <a:off x="4572000" y="3200400"/>
            <a:ext cx="4114800" cy="1051560"/>
          </a:xfrm>
          <a:prstGeom prst="roundRect">
            <a:avLst>
              <a:gd name="adj" fmla="val 6957"/>
            </a:avLst>
          </a:prstGeom>
          <a:solidFill>
            <a:srgbClr val="EEF4FB"/>
          </a:solidFill>
          <a:ln w="9525">
            <a:solidFill>
              <a:srgbClr val="EEF4FB"/>
            </a:solidFill>
            <a:prstDash val="solid"/>
          </a:ln>
        </p:spPr>
      </p:sp>
      <p:sp>
        <p:nvSpPr>
          <p:cNvPr id="21" name="Text 18"/>
          <p:cNvSpPr txBox="1"/>
          <p:nvPr/>
        </p:nvSpPr>
        <p:spPr>
          <a:xfrm>
            <a:off x="4754880" y="3291840"/>
            <a:ext cx="3749040" cy="320040"/>
          </a:xfrm>
          <a:prstGeom prst="rect">
            <a:avLst/>
          </a:prstGeom>
          <a:noFill/>
          <a:ln/>
        </p:spPr>
        <p:txBody>
          <a:bodyPr wrap="square" lIns="0" tIns="0" rIns="0" bIns="0" rtlCol="0" anchor="ctr"/>
          <a:lstStyle/>
          <a:p>
            <a:pPr indent="0" marL="0">
              <a:buNone/>
            </a:pPr>
            <a:r>
              <a:rPr lang="en-US" sz="1500" b="1" dirty="0">
                <a:solidFill>
                  <a:schemeClr val="accent1"/>
                </a:solidFill>
              </a:rPr>
              <a:t>AI活用のアドバイザー</a:t>
            </a:r>
            <a:endParaRPr lang="en-US" sz="1500" dirty="0"/>
          </a:p>
        </p:txBody>
      </p:sp>
      <p:sp>
        <p:nvSpPr>
          <p:cNvPr id="22" name="Text 19"/>
          <p:cNvSpPr txBox="1"/>
          <p:nvPr/>
        </p:nvSpPr>
        <p:spPr>
          <a:xfrm>
            <a:off x="4754880" y="3639312"/>
            <a:ext cx="3749040" cy="548640"/>
          </a:xfrm>
          <a:prstGeom prst="rect">
            <a:avLst/>
          </a:prstGeom>
          <a:noFill/>
          <a:ln/>
        </p:spPr>
        <p:txBody>
          <a:bodyPr wrap="square" lIns="0" tIns="0" rIns="0" bIns="0" rtlCol="0" anchor="t"/>
          <a:lstStyle/>
          <a:p>
            <a:pPr indent="0" marL="0">
              <a:lnSpc>
                <a:spcPct val="115000"/>
              </a:lnSpc>
              <a:buNone/>
            </a:pPr>
            <a:r>
              <a:rPr lang="en-US" sz="1200" dirty="0">
                <a:solidFill>
                  <a:schemeClr val="tx2"/>
                </a:solidFill>
              </a:rPr>
              <a:t>エージェントやスキルの使い方を見て、AIを使いこなすための助言をする</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気づき</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AIは答えを知るとよく働く。だから暗黙知を形式知に</a:t>
            </a:r>
            <a:endParaRPr lang="en-US" sz="2600" dirty="0"/>
          </a:p>
        </p:txBody>
      </p:sp>
      <p:sp>
        <p:nvSpPr>
          <p:cNvPr id="4" name="Text 2"/>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300" dirty="0">
                <a:solidFill>
                  <a:schemeClr val="tx2"/>
                </a:solidFill>
              </a:rPr>
              <a:t>AIは、答えを知っていると自分で判断して動ける。その答えは、人の頭の中にある</a:t>
            </a:r>
            <a:endParaRPr lang="en-US" sz="1300" dirty="0"/>
          </a:p>
        </p:txBody>
      </p:sp>
      <p:sp>
        <p:nvSpPr>
          <p:cNvPr id="5" name="Shape 3"/>
          <p:cNvSpPr/>
          <p:nvPr/>
        </p:nvSpPr>
        <p:spPr>
          <a:xfrm>
            <a:off x="457200" y="1463040"/>
            <a:ext cx="3108960" cy="2194560"/>
          </a:xfrm>
          <a:prstGeom prst="roundRect">
            <a:avLst>
              <a:gd name="adj" fmla="val 3333"/>
            </a:avLst>
          </a:prstGeom>
          <a:solidFill>
            <a:srgbClr val="EEF4FB"/>
          </a:solidFill>
          <a:ln w="9525">
            <a:solidFill>
              <a:srgbClr val="EEF4FB"/>
            </a:solidFill>
            <a:prstDash val="solid"/>
          </a:ln>
        </p:spPr>
      </p:sp>
      <p:sp>
        <p:nvSpPr>
          <p:cNvPr id="6" name="Text 4"/>
          <p:cNvSpPr txBox="1"/>
          <p:nvPr/>
        </p:nvSpPr>
        <p:spPr>
          <a:xfrm>
            <a:off x="731520" y="1627632"/>
            <a:ext cx="2560320" cy="457200"/>
          </a:xfrm>
          <a:prstGeom prst="rect">
            <a:avLst/>
          </a:prstGeom>
          <a:noFill/>
          <a:ln/>
        </p:spPr>
        <p:txBody>
          <a:bodyPr wrap="square" lIns="0" tIns="0" rIns="0" bIns="0" rtlCol="0" anchor="ctr"/>
          <a:lstStyle/>
          <a:p>
            <a:pPr indent="0" marL="0">
              <a:buNone/>
            </a:pPr>
            <a:r>
              <a:rPr lang="en-US" sz="2400" b="1" dirty="0">
                <a:solidFill>
                  <a:schemeClr val="tx1"/>
                </a:solidFill>
              </a:rPr>
              <a:t>暗黙知</a:t>
            </a:r>
            <a:endParaRPr lang="en-US" sz="2400" dirty="0"/>
          </a:p>
        </p:txBody>
      </p:sp>
      <p:sp>
        <p:nvSpPr>
          <p:cNvPr id="7" name="Text 5"/>
          <p:cNvSpPr txBox="1"/>
          <p:nvPr/>
        </p:nvSpPr>
        <p:spPr>
          <a:xfrm>
            <a:off x="731520" y="2194560"/>
            <a:ext cx="2651760" cy="82296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判断の多くは、経験や感覚として</a:t>
            </a:r>
            <a:endParaRPr lang="en-US" sz="1300" dirty="0"/>
          </a:p>
          <a:p>
            <a:pPr indent="0" marL="0">
              <a:lnSpc>
                <a:spcPct val="120000"/>
              </a:lnSpc>
              <a:buNone/>
            </a:pPr>
            <a:r>
              <a:rPr lang="en-US" sz="1300" dirty="0">
                <a:solidFill>
                  <a:schemeClr val="tx2"/>
                </a:solidFill>
              </a:rPr>
              <a:t>人の頭の中にある</a:t>
            </a:r>
            <a:endParaRPr lang="en-US" sz="1300" dirty="0"/>
          </a:p>
        </p:txBody>
      </p:sp>
      <p:sp>
        <p:nvSpPr>
          <p:cNvPr id="8" name="Text 6"/>
          <p:cNvSpPr txBox="1"/>
          <p:nvPr/>
        </p:nvSpPr>
        <p:spPr>
          <a:xfrm>
            <a:off x="731520" y="3154680"/>
            <a:ext cx="2651760" cy="320040"/>
          </a:xfrm>
          <a:prstGeom prst="rect">
            <a:avLst/>
          </a:prstGeom>
          <a:noFill/>
          <a:ln/>
        </p:spPr>
        <p:txBody>
          <a:bodyPr wrap="square" lIns="0" tIns="0" rIns="0" bIns="0" rtlCol="0" anchor="ctr"/>
          <a:lstStyle/>
          <a:p>
            <a:pPr indent="0" marL="0">
              <a:buNone/>
            </a:pPr>
            <a:r>
              <a:rPr lang="en-US" sz="1100" dirty="0">
                <a:solidFill>
                  <a:schemeClr val="accent6"/>
                </a:solidFill>
              </a:rPr>
              <a:t>例：「この案件はこう進める」</a:t>
            </a:r>
            <a:endParaRPr lang="en-US" sz="1100" dirty="0"/>
          </a:p>
        </p:txBody>
      </p:sp>
      <p:sp>
        <p:nvSpPr>
          <p:cNvPr id="9" name="Shape 7"/>
          <p:cNvSpPr/>
          <p:nvPr/>
        </p:nvSpPr>
        <p:spPr>
          <a:xfrm>
            <a:off x="3749040" y="2377440"/>
            <a:ext cx="1645920" cy="548640"/>
          </a:xfrm>
          <a:prstGeom prst="rightArrow">
            <a:avLst/>
          </a:prstGeom>
          <a:solidFill>
            <a:srgbClr val="FFB74D"/>
          </a:solidFill>
          <a:ln w="12700">
            <a:solidFill>
              <a:srgbClr val="FFB74D"/>
            </a:solidFill>
            <a:prstDash val="solid"/>
          </a:ln>
        </p:spPr>
      </p:sp>
      <p:sp>
        <p:nvSpPr>
          <p:cNvPr id="10" name="Text 8"/>
          <p:cNvSpPr txBox="1"/>
          <p:nvPr/>
        </p:nvSpPr>
        <p:spPr>
          <a:xfrm>
            <a:off x="3657600" y="1645920"/>
            <a:ext cx="1828800" cy="640080"/>
          </a:xfrm>
          <a:prstGeom prst="rect">
            <a:avLst/>
          </a:prstGeom>
          <a:noFill/>
          <a:ln/>
        </p:spPr>
        <p:txBody>
          <a:bodyPr wrap="square" lIns="0" tIns="0" rIns="0" bIns="0" rtlCol="0" anchor="b"/>
          <a:lstStyle/>
          <a:p>
            <a:pPr algn="ctr" indent="0" marL="0">
              <a:buNone/>
            </a:pPr>
            <a:r>
              <a:rPr lang="en-US" sz="1300" b="1" dirty="0">
                <a:solidFill>
                  <a:schemeClr val="tx1"/>
                </a:solidFill>
              </a:rPr>
              <a:t>判断したことを</a:t>
            </a:r>
            <a:endParaRPr lang="en-US" sz="1300" dirty="0"/>
          </a:p>
          <a:p>
            <a:pPr algn="ctr" indent="0" marL="0">
              <a:buNone/>
            </a:pPr>
            <a:r>
              <a:rPr lang="en-US" sz="1300" b="1" dirty="0">
                <a:solidFill>
                  <a:schemeClr val="tx1"/>
                </a:solidFill>
              </a:rPr>
              <a:t>伝える・残す</a:t>
            </a:r>
            <a:endParaRPr lang="en-US" sz="1300" dirty="0"/>
          </a:p>
        </p:txBody>
      </p:sp>
      <p:sp>
        <p:nvSpPr>
          <p:cNvPr id="11" name="Shape 9"/>
          <p:cNvSpPr/>
          <p:nvPr/>
        </p:nvSpPr>
        <p:spPr>
          <a:xfrm>
            <a:off x="5577840" y="1463040"/>
            <a:ext cx="3108960" cy="2194560"/>
          </a:xfrm>
          <a:prstGeom prst="roundRect">
            <a:avLst>
              <a:gd name="adj" fmla="val 3333"/>
            </a:avLst>
          </a:prstGeom>
          <a:solidFill>
            <a:srgbClr val="1565C0"/>
          </a:solidFill>
          <a:ln w="9525">
            <a:solidFill>
              <a:srgbClr val="1565C0"/>
            </a:solidFill>
            <a:prstDash val="solid"/>
          </a:ln>
        </p:spPr>
      </p:sp>
      <p:sp>
        <p:nvSpPr>
          <p:cNvPr id="12" name="Text 10"/>
          <p:cNvSpPr txBox="1"/>
          <p:nvPr/>
        </p:nvSpPr>
        <p:spPr>
          <a:xfrm>
            <a:off x="5852160" y="1627632"/>
            <a:ext cx="2560320" cy="457200"/>
          </a:xfrm>
          <a:prstGeom prst="rect">
            <a:avLst/>
          </a:prstGeom>
          <a:noFill/>
          <a:ln/>
        </p:spPr>
        <p:txBody>
          <a:bodyPr wrap="square" lIns="0" tIns="0" rIns="0" bIns="0" rtlCol="0" anchor="ctr"/>
          <a:lstStyle/>
          <a:p>
            <a:pPr indent="0" marL="0">
              <a:buNone/>
            </a:pPr>
            <a:r>
              <a:rPr lang="en-US" sz="2400" b="1" dirty="0">
                <a:solidFill>
                  <a:schemeClr val="bg1"/>
                </a:solidFill>
              </a:rPr>
              <a:t>形式知</a:t>
            </a:r>
            <a:endParaRPr lang="en-US" sz="2400" dirty="0"/>
          </a:p>
        </p:txBody>
      </p:sp>
      <p:sp>
        <p:nvSpPr>
          <p:cNvPr id="13" name="Text 11"/>
          <p:cNvSpPr txBox="1"/>
          <p:nvPr/>
        </p:nvSpPr>
        <p:spPr>
          <a:xfrm>
            <a:off x="5852160" y="2194560"/>
            <a:ext cx="2651760" cy="822960"/>
          </a:xfrm>
          <a:prstGeom prst="rect">
            <a:avLst/>
          </a:prstGeom>
          <a:noFill/>
          <a:ln/>
        </p:spPr>
        <p:txBody>
          <a:bodyPr wrap="square" lIns="0" tIns="0" rIns="0" bIns="0" rtlCol="0" anchor="t"/>
          <a:lstStyle/>
          <a:p>
            <a:pPr indent="0" marL="0">
              <a:lnSpc>
                <a:spcPct val="120000"/>
              </a:lnSpc>
              <a:buNone/>
            </a:pPr>
            <a:r>
              <a:rPr lang="en-US" sz="1300" dirty="0">
                <a:solidFill>
                  <a:schemeClr val="bg1"/>
                </a:solidFill>
              </a:rPr>
              <a:t>言葉や記録になり、AIが</a:t>
            </a:r>
            <a:endParaRPr lang="en-US" sz="1300" dirty="0"/>
          </a:p>
          <a:p>
            <a:pPr indent="0" marL="0">
              <a:lnSpc>
                <a:spcPct val="120000"/>
              </a:lnSpc>
              <a:buNone/>
            </a:pPr>
            <a:r>
              <a:rPr lang="en-US" sz="1300" dirty="0">
                <a:solidFill>
                  <a:schemeClr val="bg1"/>
                </a:solidFill>
              </a:rPr>
              <a:t>「答え」として使える知識</a:t>
            </a:r>
            <a:endParaRPr lang="en-US" sz="1300" dirty="0"/>
          </a:p>
        </p:txBody>
      </p:sp>
      <p:sp>
        <p:nvSpPr>
          <p:cNvPr id="14" name="Text 12"/>
          <p:cNvSpPr txBox="1"/>
          <p:nvPr/>
        </p:nvSpPr>
        <p:spPr>
          <a:xfrm>
            <a:off x="5852160" y="3154680"/>
            <a:ext cx="2651760" cy="320040"/>
          </a:xfrm>
          <a:prstGeom prst="rect">
            <a:avLst/>
          </a:prstGeom>
          <a:noFill/>
          <a:ln/>
        </p:spPr>
        <p:txBody>
          <a:bodyPr wrap="square" lIns="0" tIns="0" rIns="0" bIns="0" rtlCol="0" anchor="ctr"/>
          <a:lstStyle/>
          <a:p>
            <a:pPr indent="0" marL="0">
              <a:buNone/>
            </a:pPr>
            <a:r>
              <a:rPr lang="en-US" sz="1100" b="1" dirty="0">
                <a:solidFill>
                  <a:schemeClr val="accent3"/>
                </a:solidFill>
              </a:rPr>
              <a:t>AIが次から自分で判断できる</a:t>
            </a:r>
            <a:endParaRPr lang="en-US" sz="1100" dirty="0"/>
          </a:p>
        </p:txBody>
      </p:sp>
      <p:sp>
        <p:nvSpPr>
          <p:cNvPr id="15" name="Shape 13"/>
          <p:cNvSpPr/>
          <p:nvPr/>
        </p:nvSpPr>
        <p:spPr>
          <a:xfrm>
            <a:off x="457200" y="3840480"/>
            <a:ext cx="8229600" cy="548640"/>
          </a:xfrm>
          <a:prstGeom prst="roundRect">
            <a:avLst>
              <a:gd name="adj" fmla="val 13333"/>
            </a:avLst>
          </a:prstGeom>
          <a:solidFill>
            <a:srgbClr val="0F2B4C"/>
          </a:solidFill>
          <a:ln w="9525">
            <a:solidFill>
              <a:srgbClr val="0F2B4C"/>
            </a:solidFill>
            <a:prstDash val="solid"/>
          </a:ln>
        </p:spPr>
      </p:sp>
      <p:sp>
        <p:nvSpPr>
          <p:cNvPr id="16" name="Text 14"/>
          <p:cNvSpPr txBox="1"/>
          <p:nvPr/>
        </p:nvSpPr>
        <p:spPr>
          <a:xfrm>
            <a:off x="685800" y="3840480"/>
            <a:ext cx="7863840" cy="548640"/>
          </a:xfrm>
          <a:prstGeom prst="rect">
            <a:avLst/>
          </a:prstGeom>
          <a:noFill/>
          <a:ln/>
        </p:spPr>
        <p:txBody>
          <a:bodyPr wrap="square" lIns="0" tIns="0" rIns="0" bIns="0" rtlCol="0" anchor="ctr"/>
          <a:lstStyle/>
          <a:p>
            <a:pPr indent="0" marL="0">
              <a:buNone/>
            </a:pPr>
            <a:r>
              <a:rPr lang="en-US" sz="1500" b="1" dirty="0">
                <a:solidFill>
                  <a:schemeClr val="bg1"/>
                </a:solidFill>
              </a:rPr>
              <a:t>答えを知るために、人が持っている暗黙知を形式知にする必要がある</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Q3 ｜ どう広げるか</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bg1"/>
                </a:solidFill>
              </a:rPr>
              <a:t>みんなの判断を、MCPで一か所に</a:t>
            </a:r>
            <a:endParaRPr lang="en-US" sz="2600" dirty="0"/>
          </a:p>
        </p:txBody>
      </p:sp>
      <p:sp>
        <p:nvSpPr>
          <p:cNvPr id="4" name="Shape 2"/>
          <p:cNvSpPr/>
          <p:nvPr/>
        </p:nvSpPr>
        <p:spPr>
          <a:xfrm>
            <a:off x="4160520" y="1051560"/>
            <a:ext cx="4617720" cy="3246120"/>
          </a:xfrm>
          <a:prstGeom prst="roundRect">
            <a:avLst>
              <a:gd name="adj" fmla="val 2254"/>
            </a:avLst>
          </a:prstGeom>
          <a:solidFill>
            <a:srgbClr val="FFFFFF"/>
          </a:solidFill>
          <a:ln w="9525">
            <a:solidFill>
              <a:srgbClr val="FFFFFF"/>
            </a:solidFill>
            <a:prstDash val="solid"/>
          </a:ln>
        </p:spPr>
      </p:sp>
      <p:pic>
        <p:nvPicPr>
          <p:cNvPr id="5" name="Image 0" descr="hub">    </p:cNvPr>
          <p:cNvPicPr>
            <a:picLocks noChangeAspect="1"/>
          </p:cNvPicPr>
          <p:nvPr/>
        </p:nvPicPr>
        <p:blipFill>
          <a:blip r:embed="rId1"/>
          <a:stretch>
            <a:fillRect/>
          </a:stretch>
        </p:blipFill>
        <p:spPr>
          <a:xfrm>
            <a:off x="4297680" y="1188720"/>
            <a:ext cx="4343400" cy="3023235"/>
          </a:xfrm>
          <a:prstGeom prst="rect">
            <a:avLst/>
          </a:prstGeom>
        </p:spPr>
      </p:pic>
      <p:sp>
        <p:nvSpPr>
          <p:cNvPr id="6" name="Shape 3"/>
          <p:cNvSpPr/>
          <p:nvPr/>
        </p:nvSpPr>
        <p:spPr>
          <a:xfrm>
            <a:off x="457200" y="1188720"/>
            <a:ext cx="457200" cy="457200"/>
          </a:xfrm>
          <a:prstGeom prst="ellipse">
            <a:avLst/>
          </a:prstGeom>
          <a:solidFill>
            <a:srgbClr val="FFB74D"/>
          </a:solidFill>
          <a:ln w="12700">
            <a:solidFill>
              <a:srgbClr val="FFB74D"/>
            </a:solidFill>
            <a:prstDash val="solid"/>
          </a:ln>
        </p:spPr>
      </p:sp>
      <p:sp>
        <p:nvSpPr>
          <p:cNvPr id="7" name="Text 4"/>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Text 5"/>
          <p:cNvSpPr txBox="1"/>
          <p:nvPr/>
        </p:nvSpPr>
        <p:spPr>
          <a:xfrm>
            <a:off x="1097280" y="1170432"/>
            <a:ext cx="2926080" cy="365760"/>
          </a:xfrm>
          <a:prstGeom prst="rect">
            <a:avLst/>
          </a:prstGeom>
          <a:noFill/>
          <a:ln/>
        </p:spPr>
        <p:txBody>
          <a:bodyPr wrap="square" lIns="0" tIns="0" rIns="0" bIns="0" rtlCol="0" anchor="ctr"/>
          <a:lstStyle/>
          <a:p>
            <a:pPr indent="0" marL="0">
              <a:buNone/>
            </a:pPr>
            <a:r>
              <a:rPr lang="en-US" sz="1700" b="1" dirty="0">
                <a:solidFill>
                  <a:schemeClr val="bg1"/>
                </a:solidFill>
              </a:rPr>
              <a:t>つなぐ</a:t>
            </a:r>
            <a:endParaRPr lang="en-US" sz="1700" dirty="0"/>
          </a:p>
        </p:txBody>
      </p:sp>
      <p:sp>
        <p:nvSpPr>
          <p:cNvPr id="9" name="Text 6"/>
          <p:cNvSpPr txBox="1"/>
          <p:nvPr/>
        </p:nvSpPr>
        <p:spPr>
          <a:xfrm>
            <a:off x="1097280" y="1554480"/>
            <a:ext cx="2926080" cy="548640"/>
          </a:xfrm>
          <a:prstGeom prst="rect">
            <a:avLst/>
          </a:prstGeom>
          <a:noFill/>
          <a:ln/>
        </p:spPr>
        <p:txBody>
          <a:bodyPr wrap="square" lIns="0" tIns="0" rIns="0" bIns="0" rtlCol="0" anchor="t"/>
          <a:lstStyle/>
          <a:p>
            <a:pPr indent="0" marL="0">
              <a:lnSpc>
                <a:spcPct val="115000"/>
              </a:lnSpc>
              <a:buNone/>
            </a:pPr>
            <a:r>
              <a:rPr lang="en-US" sz="1200" dirty="0">
                <a:solidFill>
                  <a:schemeClr val="accent3"/>
                </a:solidFill>
              </a:rPr>
              <a:t>MCPで、AIと判断の置き場をつなぐ</a:t>
            </a:r>
            <a:endParaRPr lang="en-US" sz="1200" dirty="0"/>
          </a:p>
        </p:txBody>
      </p:sp>
      <p:sp>
        <p:nvSpPr>
          <p:cNvPr id="10" name="Shape 7"/>
          <p:cNvSpPr/>
          <p:nvPr/>
        </p:nvSpPr>
        <p:spPr>
          <a:xfrm>
            <a:off x="457200" y="2212848"/>
            <a:ext cx="457200" cy="457200"/>
          </a:xfrm>
          <a:prstGeom prst="ellipse">
            <a:avLst/>
          </a:prstGeom>
          <a:solidFill>
            <a:srgbClr val="FFB74D"/>
          </a:solidFill>
          <a:ln w="12700">
            <a:solidFill>
              <a:srgbClr val="FFB74D"/>
            </a:solidFill>
            <a:prstDash val="solid"/>
          </a:ln>
        </p:spPr>
      </p:sp>
      <p:sp>
        <p:nvSpPr>
          <p:cNvPr id="11" name="Text 8"/>
          <p:cNvSpPr txBox="1"/>
          <p:nvPr/>
        </p:nvSpPr>
        <p:spPr>
          <a:xfrm>
            <a:off x="457200" y="2212848"/>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2" name="Text 9"/>
          <p:cNvSpPr txBox="1"/>
          <p:nvPr/>
        </p:nvSpPr>
        <p:spPr>
          <a:xfrm>
            <a:off x="1097280" y="2194560"/>
            <a:ext cx="2926080" cy="365760"/>
          </a:xfrm>
          <a:prstGeom prst="rect">
            <a:avLst/>
          </a:prstGeom>
          <a:noFill/>
          <a:ln/>
        </p:spPr>
        <p:txBody>
          <a:bodyPr wrap="square" lIns="0" tIns="0" rIns="0" bIns="0" rtlCol="0" anchor="ctr"/>
          <a:lstStyle/>
          <a:p>
            <a:pPr indent="0" marL="0">
              <a:buNone/>
            </a:pPr>
            <a:r>
              <a:rPr lang="en-US" sz="1700" b="1" dirty="0">
                <a:solidFill>
                  <a:schemeClr val="bg1"/>
                </a:solidFill>
              </a:rPr>
              <a:t>集める</a:t>
            </a:r>
            <a:endParaRPr lang="en-US" sz="1700" dirty="0"/>
          </a:p>
        </p:txBody>
      </p:sp>
      <p:sp>
        <p:nvSpPr>
          <p:cNvPr id="13" name="Text 10"/>
          <p:cNvSpPr txBox="1"/>
          <p:nvPr/>
        </p:nvSpPr>
        <p:spPr>
          <a:xfrm>
            <a:off x="1097280" y="2578608"/>
            <a:ext cx="2926080" cy="548640"/>
          </a:xfrm>
          <a:prstGeom prst="rect">
            <a:avLst/>
          </a:prstGeom>
          <a:noFill/>
          <a:ln/>
        </p:spPr>
        <p:txBody>
          <a:bodyPr wrap="square" lIns="0" tIns="0" rIns="0" bIns="0" rtlCol="0" anchor="t"/>
          <a:lstStyle/>
          <a:p>
            <a:pPr indent="0" marL="0">
              <a:lnSpc>
                <a:spcPct val="115000"/>
              </a:lnSpc>
              <a:buNone/>
            </a:pPr>
            <a:r>
              <a:rPr lang="en-US" sz="1200" dirty="0">
                <a:solidFill>
                  <a:schemeClr val="accent3"/>
                </a:solidFill>
              </a:rPr>
              <a:t>AIを使って判断した形式知を、一か所に集める</a:t>
            </a:r>
            <a:endParaRPr lang="en-US" sz="1200" dirty="0"/>
          </a:p>
        </p:txBody>
      </p:sp>
      <p:sp>
        <p:nvSpPr>
          <p:cNvPr id="14" name="Shape 11"/>
          <p:cNvSpPr/>
          <p:nvPr/>
        </p:nvSpPr>
        <p:spPr>
          <a:xfrm>
            <a:off x="457200" y="3236976"/>
            <a:ext cx="457200" cy="457200"/>
          </a:xfrm>
          <a:prstGeom prst="ellipse">
            <a:avLst/>
          </a:prstGeom>
          <a:solidFill>
            <a:srgbClr val="FFB74D"/>
          </a:solidFill>
          <a:ln w="12700">
            <a:solidFill>
              <a:srgbClr val="FFB74D"/>
            </a:solidFill>
            <a:prstDash val="solid"/>
          </a:ln>
        </p:spPr>
      </p:sp>
      <p:sp>
        <p:nvSpPr>
          <p:cNvPr id="15" name="Text 12"/>
          <p:cNvSpPr txBox="1"/>
          <p:nvPr/>
        </p:nvSpPr>
        <p:spPr>
          <a:xfrm>
            <a:off x="457200" y="3236976"/>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6" name="Text 13"/>
          <p:cNvSpPr txBox="1"/>
          <p:nvPr/>
        </p:nvSpPr>
        <p:spPr>
          <a:xfrm>
            <a:off x="1097280" y="3218688"/>
            <a:ext cx="2926080" cy="365760"/>
          </a:xfrm>
          <a:prstGeom prst="rect">
            <a:avLst/>
          </a:prstGeom>
          <a:noFill/>
          <a:ln/>
        </p:spPr>
        <p:txBody>
          <a:bodyPr wrap="square" lIns="0" tIns="0" rIns="0" bIns="0" rtlCol="0" anchor="ctr"/>
          <a:lstStyle/>
          <a:p>
            <a:pPr indent="0" marL="0">
              <a:buNone/>
            </a:pPr>
            <a:r>
              <a:rPr lang="en-US" sz="1700" b="1" dirty="0">
                <a:solidFill>
                  <a:schemeClr val="bg1"/>
                </a:solidFill>
              </a:rPr>
              <a:t>判断に使う</a:t>
            </a:r>
            <a:endParaRPr lang="en-US" sz="1700" dirty="0"/>
          </a:p>
        </p:txBody>
      </p:sp>
      <p:sp>
        <p:nvSpPr>
          <p:cNvPr id="17" name="Text 14"/>
          <p:cNvSpPr txBox="1"/>
          <p:nvPr/>
        </p:nvSpPr>
        <p:spPr>
          <a:xfrm>
            <a:off x="1097280" y="3602736"/>
            <a:ext cx="2926080" cy="548640"/>
          </a:xfrm>
          <a:prstGeom prst="rect">
            <a:avLst/>
          </a:prstGeom>
          <a:noFill/>
          <a:ln/>
        </p:spPr>
        <p:txBody>
          <a:bodyPr wrap="square" lIns="0" tIns="0" rIns="0" bIns="0" rtlCol="0" anchor="t"/>
          <a:lstStyle/>
          <a:p>
            <a:pPr indent="0" marL="0">
              <a:lnSpc>
                <a:spcPct val="115000"/>
              </a:lnSpc>
              <a:buNone/>
            </a:pPr>
            <a:r>
              <a:rPr lang="en-US" sz="1200" dirty="0">
                <a:solidFill>
                  <a:schemeClr val="accent3"/>
                </a:solidFill>
              </a:rPr>
              <a:t>集めた判断を、エージェントが次の判断に使う</a:t>
            </a:r>
            <a:endParaRPr lang="en-US" sz="1200" dirty="0"/>
          </a:p>
        </p:txBody>
      </p:sp>
      <p:sp>
        <p:nvSpPr>
          <p:cNvPr id="18" name="Text 15"/>
          <p:cNvSpPr txBox="1"/>
          <p:nvPr/>
        </p:nvSpPr>
        <p:spPr>
          <a:xfrm>
            <a:off x="457200" y="4343400"/>
            <a:ext cx="5486400" cy="228600"/>
          </a:xfrm>
          <a:prstGeom prst="rect">
            <a:avLst/>
          </a:prstGeom>
          <a:noFill/>
          <a:ln/>
        </p:spPr>
        <p:txBody>
          <a:bodyPr wrap="square" lIns="0" tIns="0" rIns="0" bIns="0" rtlCol="0" anchor="ctr"/>
          <a:lstStyle/>
          <a:p>
            <a:pPr indent="0" marL="0">
              <a:buNone/>
            </a:pPr>
            <a:r>
              <a:rPr lang="en-US" sz="900" dirty="0">
                <a:solidFill>
                  <a:schemeClr val="accent3"/>
                </a:solidFill>
              </a:rPr>
              <a:t>MCP：AIが外部の道具やデータを共通の方法で使うための仕組み</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Q3 ｜ どう広げるか</a:t>
            </a:r>
            <a:endParaRPr lang="en-US" sz="1100" dirty="0"/>
          </a:p>
        </p:txBody>
      </p:sp>
      <p:sp>
        <p:nvSpPr>
          <p:cNvPr id="3" name="Text 1"/>
          <p:cNvSpPr/>
          <p:nvPr>
            <p:ph idx="101"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ゆくゆくは、MAPE-K で自動で回したい</a:t>
            </a:r>
            <a:endParaRPr lang="en-US" sz="2600" dirty="0"/>
          </a:p>
        </p:txBody>
      </p:sp>
      <p:pic>
        <p:nvPicPr>
          <p:cNvPr id="4" name="Image 0" descr="mapek">    </p:cNvPr>
          <p:cNvPicPr>
            <a:picLocks noChangeAspect="1"/>
          </p:cNvPicPr>
          <p:nvPr/>
        </p:nvPicPr>
        <p:blipFill>
          <a:blip r:embed="rId1"/>
          <a:stretch>
            <a:fillRect/>
          </a:stretch>
        </p:blipFill>
        <p:spPr>
          <a:xfrm>
            <a:off x="365760" y="1005840"/>
            <a:ext cx="4841321" cy="3611880"/>
          </a:xfrm>
          <a:prstGeom prst="rect">
            <a:avLst/>
          </a:prstGeom>
        </p:spPr>
      </p:pic>
      <p:sp>
        <p:nvSpPr>
          <p:cNvPr id="5" name="Shape 2"/>
          <p:cNvSpPr/>
          <p:nvPr/>
        </p:nvSpPr>
        <p:spPr>
          <a:xfrm>
            <a:off x="5486400" y="1133856"/>
            <a:ext cx="438912" cy="438912"/>
          </a:xfrm>
          <a:prstGeom prst="ellipse">
            <a:avLst/>
          </a:prstGeom>
          <a:solidFill>
            <a:srgbClr val="0F2B4C"/>
          </a:solidFill>
          <a:ln w="12700">
            <a:solidFill>
              <a:srgbClr val="0F2B4C"/>
            </a:solidFill>
            <a:prstDash val="solid"/>
          </a:ln>
        </p:spPr>
      </p:sp>
      <p:sp>
        <p:nvSpPr>
          <p:cNvPr id="6" name="Text 3"/>
          <p:cNvSpPr txBox="1"/>
          <p:nvPr/>
        </p:nvSpPr>
        <p:spPr>
          <a:xfrm>
            <a:off x="5486400" y="1133856"/>
            <a:ext cx="438912" cy="438912"/>
          </a:xfrm>
          <a:prstGeom prst="rect">
            <a:avLst/>
          </a:prstGeom>
          <a:noFill/>
          <a:ln/>
        </p:spPr>
        <p:txBody>
          <a:bodyPr wrap="square" lIns="0" tIns="0" rIns="0" bIns="0" rtlCol="0" anchor="ctr"/>
          <a:lstStyle/>
          <a:p>
            <a:pPr algn="ctr" indent="0" marL="0">
              <a:buNone/>
            </a:pPr>
            <a:r>
              <a:rPr lang="en-US" sz="1248" b="1" dirty="0">
                <a:solidFill>
                  <a:schemeClr val="bg1"/>
                </a:solidFill>
              </a:rPr>
              <a:t>M</a:t>
            </a:r>
            <a:endParaRPr lang="en-US" sz="1248" dirty="0"/>
          </a:p>
        </p:txBody>
      </p:sp>
      <p:sp>
        <p:nvSpPr>
          <p:cNvPr id="7" name="Text 4"/>
          <p:cNvSpPr txBox="1"/>
          <p:nvPr/>
        </p:nvSpPr>
        <p:spPr>
          <a:xfrm>
            <a:off x="6080760" y="1097280"/>
            <a:ext cx="2651760" cy="274320"/>
          </a:xfrm>
          <a:prstGeom prst="rect">
            <a:avLst/>
          </a:prstGeom>
          <a:noFill/>
          <a:ln/>
        </p:spPr>
        <p:txBody>
          <a:bodyPr wrap="square" lIns="0" tIns="0" rIns="0" bIns="0" rtlCol="0" anchor="ctr"/>
          <a:lstStyle/>
          <a:p>
            <a:pPr indent="0" marL="0">
              <a:buNone/>
            </a:pPr>
            <a:r>
              <a:rPr lang="en-US" sz="1500" b="1" dirty="0">
                <a:solidFill>
                  <a:schemeClr val="tx1"/>
                </a:solidFill>
              </a:rPr>
              <a:t>監視</a:t>
            </a:r>
            <a:endParaRPr lang="en-US" sz="1500" dirty="0"/>
          </a:p>
        </p:txBody>
      </p:sp>
      <p:sp>
        <p:nvSpPr>
          <p:cNvPr id="8" name="Text 5"/>
          <p:cNvSpPr txBox="1"/>
          <p:nvPr/>
        </p:nvSpPr>
        <p:spPr>
          <a:xfrm>
            <a:off x="6080760" y="1371600"/>
            <a:ext cx="2651760" cy="256032"/>
          </a:xfrm>
          <a:prstGeom prst="rect">
            <a:avLst/>
          </a:prstGeom>
          <a:noFill/>
          <a:ln/>
        </p:spPr>
        <p:txBody>
          <a:bodyPr wrap="square" lIns="0" tIns="0" rIns="0" bIns="0" rtlCol="0" anchor="ctr"/>
          <a:lstStyle/>
          <a:p>
            <a:pPr indent="0" marL="0">
              <a:buNone/>
            </a:pPr>
            <a:r>
              <a:rPr lang="en-US" sz="1100" dirty="0">
                <a:solidFill>
                  <a:schemeClr val="tx2"/>
                </a:solidFill>
              </a:rPr>
              <a:t>質問と判断のやりとりを見守る</a:t>
            </a:r>
            <a:endParaRPr lang="en-US" sz="1100" dirty="0"/>
          </a:p>
        </p:txBody>
      </p:sp>
      <p:sp>
        <p:nvSpPr>
          <p:cNvPr id="9" name="Shape 6"/>
          <p:cNvSpPr/>
          <p:nvPr/>
        </p:nvSpPr>
        <p:spPr>
          <a:xfrm>
            <a:off x="5486400" y="1792224"/>
            <a:ext cx="438912" cy="438912"/>
          </a:xfrm>
          <a:prstGeom prst="ellipse">
            <a:avLst/>
          </a:prstGeom>
          <a:solidFill>
            <a:srgbClr val="0F2B4C"/>
          </a:solidFill>
          <a:ln w="12700">
            <a:solidFill>
              <a:srgbClr val="0F2B4C"/>
            </a:solidFill>
            <a:prstDash val="solid"/>
          </a:ln>
        </p:spPr>
      </p:sp>
      <p:sp>
        <p:nvSpPr>
          <p:cNvPr id="10" name="Text 7"/>
          <p:cNvSpPr txBox="1"/>
          <p:nvPr/>
        </p:nvSpPr>
        <p:spPr>
          <a:xfrm>
            <a:off x="5486400" y="1792224"/>
            <a:ext cx="438912" cy="438912"/>
          </a:xfrm>
          <a:prstGeom prst="rect">
            <a:avLst/>
          </a:prstGeom>
          <a:noFill/>
          <a:ln/>
        </p:spPr>
        <p:txBody>
          <a:bodyPr wrap="square" lIns="0" tIns="0" rIns="0" bIns="0" rtlCol="0" anchor="ctr"/>
          <a:lstStyle/>
          <a:p>
            <a:pPr algn="ctr" indent="0" marL="0">
              <a:buNone/>
            </a:pPr>
            <a:r>
              <a:rPr lang="en-US" sz="1248" b="1" dirty="0">
                <a:solidFill>
                  <a:schemeClr val="bg1"/>
                </a:solidFill>
              </a:rPr>
              <a:t>A</a:t>
            </a:r>
            <a:endParaRPr lang="en-US" sz="1248" dirty="0"/>
          </a:p>
        </p:txBody>
      </p:sp>
      <p:sp>
        <p:nvSpPr>
          <p:cNvPr id="11" name="Text 8"/>
          <p:cNvSpPr txBox="1"/>
          <p:nvPr/>
        </p:nvSpPr>
        <p:spPr>
          <a:xfrm>
            <a:off x="6080760" y="1755648"/>
            <a:ext cx="2651760" cy="274320"/>
          </a:xfrm>
          <a:prstGeom prst="rect">
            <a:avLst/>
          </a:prstGeom>
          <a:noFill/>
          <a:ln/>
        </p:spPr>
        <p:txBody>
          <a:bodyPr wrap="square" lIns="0" tIns="0" rIns="0" bIns="0" rtlCol="0" anchor="ctr"/>
          <a:lstStyle/>
          <a:p>
            <a:pPr indent="0" marL="0">
              <a:buNone/>
            </a:pPr>
            <a:r>
              <a:rPr lang="en-US" sz="1500" b="1" dirty="0">
                <a:solidFill>
                  <a:schemeClr val="tx1"/>
                </a:solidFill>
              </a:rPr>
              <a:t>分析</a:t>
            </a:r>
            <a:endParaRPr lang="en-US" sz="1500" dirty="0"/>
          </a:p>
        </p:txBody>
      </p:sp>
      <p:sp>
        <p:nvSpPr>
          <p:cNvPr id="12" name="Text 9"/>
          <p:cNvSpPr txBox="1"/>
          <p:nvPr/>
        </p:nvSpPr>
        <p:spPr>
          <a:xfrm>
            <a:off x="6080760" y="2029968"/>
            <a:ext cx="2651760" cy="256032"/>
          </a:xfrm>
          <a:prstGeom prst="rect">
            <a:avLst/>
          </a:prstGeom>
          <a:noFill/>
          <a:ln/>
        </p:spPr>
        <p:txBody>
          <a:bodyPr wrap="square" lIns="0" tIns="0" rIns="0" bIns="0" rtlCol="0" anchor="ctr"/>
          <a:lstStyle/>
          <a:p>
            <a:pPr indent="0" marL="0">
              <a:buNone/>
            </a:pPr>
            <a:r>
              <a:rPr lang="en-US" sz="1100" dirty="0">
                <a:solidFill>
                  <a:schemeClr val="tx2"/>
                </a:solidFill>
              </a:rPr>
              <a:t>質問の傾向をつかむ</a:t>
            </a:r>
            <a:endParaRPr lang="en-US" sz="1100" dirty="0"/>
          </a:p>
        </p:txBody>
      </p:sp>
      <p:sp>
        <p:nvSpPr>
          <p:cNvPr id="13" name="Shape 10"/>
          <p:cNvSpPr/>
          <p:nvPr/>
        </p:nvSpPr>
        <p:spPr>
          <a:xfrm>
            <a:off x="5486400" y="2450592"/>
            <a:ext cx="438912" cy="438912"/>
          </a:xfrm>
          <a:prstGeom prst="ellipse">
            <a:avLst/>
          </a:prstGeom>
          <a:solidFill>
            <a:srgbClr val="0F2B4C"/>
          </a:solidFill>
          <a:ln w="12700">
            <a:solidFill>
              <a:srgbClr val="0F2B4C"/>
            </a:solidFill>
            <a:prstDash val="solid"/>
          </a:ln>
        </p:spPr>
      </p:sp>
      <p:sp>
        <p:nvSpPr>
          <p:cNvPr id="14" name="Text 11"/>
          <p:cNvSpPr txBox="1"/>
          <p:nvPr/>
        </p:nvSpPr>
        <p:spPr>
          <a:xfrm>
            <a:off x="5486400" y="2450592"/>
            <a:ext cx="438912" cy="438912"/>
          </a:xfrm>
          <a:prstGeom prst="rect">
            <a:avLst/>
          </a:prstGeom>
          <a:noFill/>
          <a:ln/>
        </p:spPr>
        <p:txBody>
          <a:bodyPr wrap="square" lIns="0" tIns="0" rIns="0" bIns="0" rtlCol="0" anchor="ctr"/>
          <a:lstStyle/>
          <a:p>
            <a:pPr algn="ctr" indent="0" marL="0">
              <a:buNone/>
            </a:pPr>
            <a:r>
              <a:rPr lang="en-US" sz="1248" b="1" dirty="0">
                <a:solidFill>
                  <a:schemeClr val="bg1"/>
                </a:solidFill>
              </a:rPr>
              <a:t>P</a:t>
            </a:r>
            <a:endParaRPr lang="en-US" sz="1248" dirty="0"/>
          </a:p>
        </p:txBody>
      </p:sp>
      <p:sp>
        <p:nvSpPr>
          <p:cNvPr id="15" name="Text 12"/>
          <p:cNvSpPr txBox="1"/>
          <p:nvPr/>
        </p:nvSpPr>
        <p:spPr>
          <a:xfrm>
            <a:off x="6080760" y="2414016"/>
            <a:ext cx="2651760" cy="274320"/>
          </a:xfrm>
          <a:prstGeom prst="rect">
            <a:avLst/>
          </a:prstGeom>
          <a:noFill/>
          <a:ln/>
        </p:spPr>
        <p:txBody>
          <a:bodyPr wrap="square" lIns="0" tIns="0" rIns="0" bIns="0" rtlCol="0" anchor="ctr"/>
          <a:lstStyle/>
          <a:p>
            <a:pPr indent="0" marL="0">
              <a:buNone/>
            </a:pPr>
            <a:r>
              <a:rPr lang="en-US" sz="1500" b="1" dirty="0">
                <a:solidFill>
                  <a:schemeClr val="tx1"/>
                </a:solidFill>
              </a:rPr>
              <a:t>計画</a:t>
            </a:r>
            <a:endParaRPr lang="en-US" sz="1500" dirty="0"/>
          </a:p>
        </p:txBody>
      </p:sp>
      <p:sp>
        <p:nvSpPr>
          <p:cNvPr id="16" name="Text 13"/>
          <p:cNvSpPr txBox="1"/>
          <p:nvPr/>
        </p:nvSpPr>
        <p:spPr>
          <a:xfrm>
            <a:off x="6080760" y="2688336"/>
            <a:ext cx="2651760" cy="256032"/>
          </a:xfrm>
          <a:prstGeom prst="rect">
            <a:avLst/>
          </a:prstGeom>
          <a:noFill/>
          <a:ln/>
        </p:spPr>
        <p:txBody>
          <a:bodyPr wrap="square" lIns="0" tIns="0" rIns="0" bIns="0" rtlCol="0" anchor="ctr"/>
          <a:lstStyle/>
          <a:p>
            <a:pPr indent="0" marL="0">
              <a:buNone/>
            </a:pPr>
            <a:r>
              <a:rPr lang="en-US" sz="1100" dirty="0">
                <a:solidFill>
                  <a:schemeClr val="tx2"/>
                </a:solidFill>
              </a:rPr>
              <a:t>誰が・どう動くかを決める</a:t>
            </a:r>
            <a:endParaRPr lang="en-US" sz="1100" dirty="0"/>
          </a:p>
        </p:txBody>
      </p:sp>
      <p:sp>
        <p:nvSpPr>
          <p:cNvPr id="17" name="Shape 14"/>
          <p:cNvSpPr/>
          <p:nvPr/>
        </p:nvSpPr>
        <p:spPr>
          <a:xfrm>
            <a:off x="5486400" y="3108960"/>
            <a:ext cx="438912" cy="438912"/>
          </a:xfrm>
          <a:prstGeom prst="ellipse">
            <a:avLst/>
          </a:prstGeom>
          <a:solidFill>
            <a:srgbClr val="0F2B4C"/>
          </a:solidFill>
          <a:ln w="12700">
            <a:solidFill>
              <a:srgbClr val="0F2B4C"/>
            </a:solidFill>
            <a:prstDash val="solid"/>
          </a:ln>
        </p:spPr>
      </p:sp>
      <p:sp>
        <p:nvSpPr>
          <p:cNvPr id="18" name="Text 15"/>
          <p:cNvSpPr txBox="1"/>
          <p:nvPr/>
        </p:nvSpPr>
        <p:spPr>
          <a:xfrm>
            <a:off x="5486400" y="3108960"/>
            <a:ext cx="438912" cy="438912"/>
          </a:xfrm>
          <a:prstGeom prst="rect">
            <a:avLst/>
          </a:prstGeom>
          <a:noFill/>
          <a:ln/>
        </p:spPr>
        <p:txBody>
          <a:bodyPr wrap="square" lIns="0" tIns="0" rIns="0" bIns="0" rtlCol="0" anchor="ctr"/>
          <a:lstStyle/>
          <a:p>
            <a:pPr algn="ctr" indent="0" marL="0">
              <a:buNone/>
            </a:pPr>
            <a:r>
              <a:rPr lang="en-US" sz="1248" b="1" dirty="0">
                <a:solidFill>
                  <a:schemeClr val="bg1"/>
                </a:solidFill>
              </a:rPr>
              <a:t>E</a:t>
            </a:r>
            <a:endParaRPr lang="en-US" sz="1248" dirty="0"/>
          </a:p>
        </p:txBody>
      </p:sp>
      <p:sp>
        <p:nvSpPr>
          <p:cNvPr id="19" name="Text 16"/>
          <p:cNvSpPr txBox="1"/>
          <p:nvPr/>
        </p:nvSpPr>
        <p:spPr>
          <a:xfrm>
            <a:off x="6080760" y="3072384"/>
            <a:ext cx="2651760" cy="274320"/>
          </a:xfrm>
          <a:prstGeom prst="rect">
            <a:avLst/>
          </a:prstGeom>
          <a:noFill/>
          <a:ln/>
        </p:spPr>
        <p:txBody>
          <a:bodyPr wrap="square" lIns="0" tIns="0" rIns="0" bIns="0" rtlCol="0" anchor="ctr"/>
          <a:lstStyle/>
          <a:p>
            <a:pPr indent="0" marL="0">
              <a:buNone/>
            </a:pPr>
            <a:r>
              <a:rPr lang="en-US" sz="1500" b="1" dirty="0">
                <a:solidFill>
                  <a:schemeClr val="tx1"/>
                </a:solidFill>
              </a:rPr>
              <a:t>実行</a:t>
            </a:r>
            <a:endParaRPr lang="en-US" sz="1500" dirty="0"/>
          </a:p>
        </p:txBody>
      </p:sp>
      <p:sp>
        <p:nvSpPr>
          <p:cNvPr id="20" name="Text 17"/>
          <p:cNvSpPr txBox="1"/>
          <p:nvPr/>
        </p:nvSpPr>
        <p:spPr>
          <a:xfrm>
            <a:off x="6080760" y="3346704"/>
            <a:ext cx="2651760" cy="256032"/>
          </a:xfrm>
          <a:prstGeom prst="rect">
            <a:avLst/>
          </a:prstGeom>
          <a:noFill/>
          <a:ln/>
        </p:spPr>
        <p:txBody>
          <a:bodyPr wrap="square" lIns="0" tIns="0" rIns="0" bIns="0" rtlCol="0" anchor="ctr"/>
          <a:lstStyle/>
          <a:p>
            <a:pPr indent="0" marL="0">
              <a:buNone/>
            </a:pPr>
            <a:r>
              <a:rPr lang="en-US" sz="1100" dirty="0">
                <a:solidFill>
                  <a:schemeClr val="tx2"/>
                </a:solidFill>
              </a:rPr>
              <a:t>エージェントが作業する</a:t>
            </a:r>
            <a:endParaRPr lang="en-US" sz="1100" dirty="0"/>
          </a:p>
        </p:txBody>
      </p:sp>
      <p:sp>
        <p:nvSpPr>
          <p:cNvPr id="21" name="Shape 18"/>
          <p:cNvSpPr/>
          <p:nvPr/>
        </p:nvSpPr>
        <p:spPr>
          <a:xfrm>
            <a:off x="5486400" y="3767328"/>
            <a:ext cx="438912" cy="438912"/>
          </a:xfrm>
          <a:prstGeom prst="ellipse">
            <a:avLst/>
          </a:prstGeom>
          <a:solidFill>
            <a:srgbClr val="1565C0"/>
          </a:solidFill>
          <a:ln w="12700">
            <a:solidFill>
              <a:srgbClr val="1565C0"/>
            </a:solidFill>
            <a:prstDash val="solid"/>
          </a:ln>
        </p:spPr>
      </p:sp>
      <p:sp>
        <p:nvSpPr>
          <p:cNvPr id="22" name="Text 19"/>
          <p:cNvSpPr txBox="1"/>
          <p:nvPr/>
        </p:nvSpPr>
        <p:spPr>
          <a:xfrm>
            <a:off x="5486400" y="3767328"/>
            <a:ext cx="438912" cy="438912"/>
          </a:xfrm>
          <a:prstGeom prst="rect">
            <a:avLst/>
          </a:prstGeom>
          <a:noFill/>
          <a:ln/>
        </p:spPr>
        <p:txBody>
          <a:bodyPr wrap="square" lIns="0" tIns="0" rIns="0" bIns="0" rtlCol="0" anchor="ctr"/>
          <a:lstStyle/>
          <a:p>
            <a:pPr algn="ctr" indent="0" marL="0">
              <a:buNone/>
            </a:pPr>
            <a:r>
              <a:rPr lang="en-US" sz="1248" b="1" dirty="0">
                <a:solidFill>
                  <a:schemeClr val="bg1"/>
                </a:solidFill>
              </a:rPr>
              <a:t>K</a:t>
            </a:r>
            <a:endParaRPr lang="en-US" sz="1248" dirty="0"/>
          </a:p>
        </p:txBody>
      </p:sp>
      <p:sp>
        <p:nvSpPr>
          <p:cNvPr id="23" name="Text 20"/>
          <p:cNvSpPr txBox="1"/>
          <p:nvPr/>
        </p:nvSpPr>
        <p:spPr>
          <a:xfrm>
            <a:off x="6080760" y="3730752"/>
            <a:ext cx="2651760" cy="274320"/>
          </a:xfrm>
          <a:prstGeom prst="rect">
            <a:avLst/>
          </a:prstGeom>
          <a:noFill/>
          <a:ln/>
        </p:spPr>
        <p:txBody>
          <a:bodyPr wrap="square" lIns="0" tIns="0" rIns="0" bIns="0" rtlCol="0" anchor="ctr"/>
          <a:lstStyle/>
          <a:p>
            <a:pPr indent="0" marL="0">
              <a:buNone/>
            </a:pPr>
            <a:r>
              <a:rPr lang="en-US" sz="1500" b="1" dirty="0">
                <a:solidFill>
                  <a:schemeClr val="tx1"/>
                </a:solidFill>
              </a:rPr>
              <a:t>知識</a:t>
            </a:r>
            <a:endParaRPr lang="en-US" sz="1500" dirty="0"/>
          </a:p>
        </p:txBody>
      </p:sp>
      <p:sp>
        <p:nvSpPr>
          <p:cNvPr id="24" name="Text 21"/>
          <p:cNvSpPr txBox="1"/>
          <p:nvPr/>
        </p:nvSpPr>
        <p:spPr>
          <a:xfrm>
            <a:off x="6080760" y="4005072"/>
            <a:ext cx="2651760" cy="256032"/>
          </a:xfrm>
          <a:prstGeom prst="rect">
            <a:avLst/>
          </a:prstGeom>
          <a:noFill/>
          <a:ln/>
        </p:spPr>
        <p:txBody>
          <a:bodyPr wrap="square" lIns="0" tIns="0" rIns="0" bIns="0" rtlCol="0" anchor="ctr"/>
          <a:lstStyle/>
          <a:p>
            <a:pPr indent="0" marL="0">
              <a:buNone/>
            </a:pPr>
            <a:r>
              <a:rPr lang="en-US" sz="1100" dirty="0">
                <a:solidFill>
                  <a:schemeClr val="tx2"/>
                </a:solidFill>
              </a:rPr>
              <a:t>みんなの判断を貯めて全員で使う</a:t>
            </a:r>
            <a:endParaRPr lang="en-US" sz="1100" dirty="0"/>
          </a:p>
        </p:txBody>
      </p:sp>
      <p:sp>
        <p:nvSpPr>
          <p:cNvPr id="25" name="Text 22"/>
          <p:cNvSpPr txBox="1"/>
          <p:nvPr/>
        </p:nvSpPr>
        <p:spPr>
          <a:xfrm>
            <a:off x="457200" y="4434840"/>
            <a:ext cx="8229600" cy="228600"/>
          </a:xfrm>
          <a:prstGeom prst="rect">
            <a:avLst/>
          </a:prstGeom>
          <a:noFill/>
          <a:ln/>
        </p:spPr>
        <p:txBody>
          <a:bodyPr wrap="square" lIns="0" tIns="0" rIns="0" bIns="0" rtlCol="0" anchor="ctr"/>
          <a:lstStyle/>
          <a:p>
            <a:pPr indent="0" marL="0">
              <a:buNone/>
            </a:pPr>
            <a:r>
              <a:rPr lang="en-US" sz="900" dirty="0">
                <a:solidFill>
                  <a:schemeClr val="accent6"/>
                </a:solidFill>
              </a:rPr>
              <a:t>MAPE-K：IBM が提唱した自律システムの参照モデル（Monitor・Analyze・Plan・Execute ＋ Knowledge）</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36576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まとめ</a:t>
            </a:r>
            <a:endParaRPr lang="en-US" sz="1200" dirty="0"/>
          </a:p>
        </p:txBody>
      </p:sp>
      <p:sp>
        <p:nvSpPr>
          <p:cNvPr id="3" name="Text 1"/>
          <p:cNvSpPr txBox="1"/>
          <p:nvPr/>
        </p:nvSpPr>
        <p:spPr>
          <a:xfrm>
            <a:off x="548640" y="777240"/>
            <a:ext cx="8046720" cy="1097280"/>
          </a:xfrm>
          <a:prstGeom prst="rect">
            <a:avLst/>
          </a:prstGeom>
          <a:noFill/>
          <a:ln/>
        </p:spPr>
        <p:txBody>
          <a:bodyPr wrap="square" lIns="0" tIns="0" rIns="0" bIns="0" rtlCol="0" anchor="t"/>
          <a:lstStyle/>
          <a:p>
            <a:pPr indent="0" marL="0">
              <a:lnSpc>
                <a:spcPct val="110000"/>
              </a:lnSpc>
              <a:buNone/>
            </a:pPr>
            <a:r>
              <a:rPr lang="en-US" sz="2800" b="1" dirty="0">
                <a:solidFill>
                  <a:schemeClr val="bg1"/>
                </a:solidFill>
              </a:rPr>
              <a:t>小さく広め、知識を集め、</a:t>
            </a:r>
            <a:endParaRPr lang="en-US" sz="2800" dirty="0"/>
          </a:p>
          <a:p>
            <a:pPr indent="0" marL="0">
              <a:lnSpc>
                <a:spcPct val="110000"/>
              </a:lnSpc>
              <a:buNone/>
            </a:pPr>
            <a:r>
              <a:rPr lang="en-US" sz="2800" b="1" dirty="0">
                <a:solidFill>
                  <a:schemeClr val="bg1"/>
                </a:solidFill>
              </a:rPr>
              <a:t>その先に自動化</a:t>
            </a:r>
            <a:endParaRPr lang="en-US" sz="2800" dirty="0"/>
          </a:p>
        </p:txBody>
      </p:sp>
      <p:sp>
        <p:nvSpPr>
          <p:cNvPr id="4" name="Text 2"/>
          <p:cNvSpPr txBox="1"/>
          <p:nvPr/>
        </p:nvSpPr>
        <p:spPr>
          <a:xfrm>
            <a:off x="548640" y="1874520"/>
            <a:ext cx="8046720" cy="274320"/>
          </a:xfrm>
          <a:prstGeom prst="rect">
            <a:avLst/>
          </a:prstGeom>
          <a:noFill/>
          <a:ln/>
        </p:spPr>
        <p:txBody>
          <a:bodyPr wrap="square" lIns="0" tIns="0" rIns="0" bIns="0" rtlCol="0" anchor="ctr"/>
          <a:lstStyle/>
          <a:p>
            <a:pPr indent="0" marL="0">
              <a:buNone/>
            </a:pPr>
            <a:r>
              <a:rPr lang="en-US" sz="1300" dirty="0">
                <a:solidFill>
                  <a:schemeClr val="accent3"/>
                </a:solidFill>
              </a:rPr>
              <a:t>AIを扱う人の知見は、まだ浅い。だから一気には広げない</a:t>
            </a:r>
            <a:endParaRPr lang="en-US" sz="1300" dirty="0"/>
          </a:p>
        </p:txBody>
      </p:sp>
      <p:sp>
        <p:nvSpPr>
          <p:cNvPr id="5" name="Shape 3"/>
          <p:cNvSpPr/>
          <p:nvPr/>
        </p:nvSpPr>
        <p:spPr>
          <a:xfrm>
            <a:off x="548640" y="2331720"/>
            <a:ext cx="2560320" cy="1417320"/>
          </a:xfrm>
          <a:prstGeom prst="roundRect">
            <a:avLst>
              <a:gd name="adj" fmla="val 5161"/>
            </a:avLst>
          </a:prstGeom>
          <a:solidFill>
            <a:srgbClr val="1B3A5E"/>
          </a:solidFill>
          <a:ln w="9525">
            <a:solidFill>
              <a:srgbClr val="1B3A5E"/>
            </a:solidFill>
            <a:prstDash val="solid"/>
          </a:ln>
        </p:spPr>
      </p:sp>
      <p:sp>
        <p:nvSpPr>
          <p:cNvPr id="6" name="Text 4"/>
          <p:cNvSpPr txBox="1"/>
          <p:nvPr/>
        </p:nvSpPr>
        <p:spPr>
          <a:xfrm>
            <a:off x="777240" y="2468880"/>
            <a:ext cx="2194560" cy="347472"/>
          </a:xfrm>
          <a:prstGeom prst="rect">
            <a:avLst/>
          </a:prstGeom>
          <a:noFill/>
          <a:ln/>
        </p:spPr>
        <p:txBody>
          <a:bodyPr wrap="square" lIns="0" tIns="0" rIns="0" bIns="0" rtlCol="0" anchor="ctr"/>
          <a:lstStyle/>
          <a:p>
            <a:pPr indent="0" marL="0">
              <a:buNone/>
            </a:pPr>
            <a:r>
              <a:rPr lang="en-US" sz="1700" b="1" dirty="0">
                <a:solidFill>
                  <a:schemeClr val="accent2"/>
                </a:solidFill>
              </a:rPr>
              <a:t>1  </a:t>
            </a:r>
            <a:pPr indent="0" marL="0">
              <a:buNone/>
            </a:pPr>
            <a:r>
              <a:rPr lang="en-US" sz="1700" b="1" dirty="0">
                <a:solidFill>
                  <a:schemeClr val="bg1"/>
                </a:solidFill>
              </a:rPr>
              <a:t>小さく広める</a:t>
            </a:r>
            <a:endParaRPr lang="en-US" sz="1700" dirty="0"/>
          </a:p>
        </p:txBody>
      </p:sp>
      <p:sp>
        <p:nvSpPr>
          <p:cNvPr id="7" name="Text 5"/>
          <p:cNvSpPr txBox="1"/>
          <p:nvPr/>
        </p:nvSpPr>
        <p:spPr>
          <a:xfrm>
            <a:off x="777240" y="2880360"/>
            <a:ext cx="2148840" cy="777240"/>
          </a:xfrm>
          <a:prstGeom prst="rect">
            <a:avLst/>
          </a:prstGeom>
          <a:noFill/>
          <a:ln/>
        </p:spPr>
        <p:txBody>
          <a:bodyPr wrap="square" lIns="0" tIns="0" rIns="0" bIns="0" rtlCol="0" anchor="t"/>
          <a:lstStyle/>
          <a:p>
            <a:pPr indent="0" marL="0">
              <a:lnSpc>
                <a:spcPct val="115000"/>
              </a:lnSpc>
              <a:buNone/>
            </a:pPr>
            <a:r>
              <a:rPr lang="en-US" sz="1200" dirty="0">
                <a:solidFill>
                  <a:schemeClr val="bg1"/>
                </a:solidFill>
              </a:rPr>
              <a:t>社内の他部署・開発・制作の現場で、小さく使い始める</a:t>
            </a:r>
            <a:endParaRPr lang="en-US" sz="1200" dirty="0"/>
          </a:p>
        </p:txBody>
      </p:sp>
      <p:sp>
        <p:nvSpPr>
          <p:cNvPr id="8" name="Shape 6"/>
          <p:cNvSpPr/>
          <p:nvPr/>
        </p:nvSpPr>
        <p:spPr>
          <a:xfrm>
            <a:off x="3127248" y="2926080"/>
            <a:ext cx="146304" cy="219456"/>
          </a:xfrm>
          <a:prstGeom prst="rightArrow">
            <a:avLst/>
          </a:prstGeom>
          <a:solidFill>
            <a:srgbClr val="FFB74D"/>
          </a:solidFill>
          <a:ln w="12700">
            <a:solidFill>
              <a:srgbClr val="FFB74D"/>
            </a:solidFill>
            <a:prstDash val="solid"/>
          </a:ln>
        </p:spPr>
      </p:sp>
      <p:sp>
        <p:nvSpPr>
          <p:cNvPr id="9" name="Shape 7"/>
          <p:cNvSpPr/>
          <p:nvPr/>
        </p:nvSpPr>
        <p:spPr>
          <a:xfrm>
            <a:off x="3291840" y="2331720"/>
            <a:ext cx="2560320" cy="1417320"/>
          </a:xfrm>
          <a:prstGeom prst="roundRect">
            <a:avLst>
              <a:gd name="adj" fmla="val 5161"/>
            </a:avLst>
          </a:prstGeom>
          <a:solidFill>
            <a:srgbClr val="1B3A5E"/>
          </a:solidFill>
          <a:ln w="9525">
            <a:solidFill>
              <a:srgbClr val="1B3A5E"/>
            </a:solidFill>
            <a:prstDash val="solid"/>
          </a:ln>
        </p:spPr>
      </p:sp>
      <p:sp>
        <p:nvSpPr>
          <p:cNvPr id="10" name="Text 8"/>
          <p:cNvSpPr txBox="1"/>
          <p:nvPr/>
        </p:nvSpPr>
        <p:spPr>
          <a:xfrm>
            <a:off x="3520440" y="2468880"/>
            <a:ext cx="2194560" cy="347472"/>
          </a:xfrm>
          <a:prstGeom prst="rect">
            <a:avLst/>
          </a:prstGeom>
          <a:noFill/>
          <a:ln/>
        </p:spPr>
        <p:txBody>
          <a:bodyPr wrap="square" lIns="0" tIns="0" rIns="0" bIns="0" rtlCol="0" anchor="ctr"/>
          <a:lstStyle/>
          <a:p>
            <a:pPr indent="0" marL="0">
              <a:buNone/>
            </a:pPr>
            <a:r>
              <a:rPr lang="en-US" sz="1700" b="1" dirty="0">
                <a:solidFill>
                  <a:schemeClr val="accent2"/>
                </a:solidFill>
              </a:rPr>
              <a:t>2  </a:t>
            </a:r>
            <a:pPr indent="0" marL="0">
              <a:buNone/>
            </a:pPr>
            <a:r>
              <a:rPr lang="en-US" sz="1700" b="1" dirty="0">
                <a:solidFill>
                  <a:schemeClr val="bg1"/>
                </a:solidFill>
              </a:rPr>
              <a:t>知識を集約する</a:t>
            </a:r>
            <a:endParaRPr lang="en-US" sz="1700" dirty="0"/>
          </a:p>
        </p:txBody>
      </p:sp>
      <p:sp>
        <p:nvSpPr>
          <p:cNvPr id="11" name="Text 9"/>
          <p:cNvSpPr txBox="1"/>
          <p:nvPr/>
        </p:nvSpPr>
        <p:spPr>
          <a:xfrm>
            <a:off x="3520440" y="2880360"/>
            <a:ext cx="2148840" cy="777240"/>
          </a:xfrm>
          <a:prstGeom prst="rect">
            <a:avLst/>
          </a:prstGeom>
          <a:noFill/>
          <a:ln/>
        </p:spPr>
        <p:txBody>
          <a:bodyPr wrap="square" lIns="0" tIns="0" rIns="0" bIns="0" rtlCol="0" anchor="t"/>
          <a:lstStyle/>
          <a:p>
            <a:pPr indent="0" marL="0">
              <a:lnSpc>
                <a:spcPct val="115000"/>
              </a:lnSpc>
              <a:buNone/>
            </a:pPr>
            <a:r>
              <a:rPr lang="en-US" sz="1200" dirty="0">
                <a:solidFill>
                  <a:schemeClr val="bg1"/>
                </a:solidFill>
              </a:rPr>
              <a:t>判断（暗黙知）を形式知にして、MCPで一か所に集める</a:t>
            </a:r>
            <a:endParaRPr lang="en-US" sz="1200" dirty="0"/>
          </a:p>
        </p:txBody>
      </p:sp>
      <p:sp>
        <p:nvSpPr>
          <p:cNvPr id="12" name="Shape 10"/>
          <p:cNvSpPr/>
          <p:nvPr/>
        </p:nvSpPr>
        <p:spPr>
          <a:xfrm>
            <a:off x="5870448" y="2926080"/>
            <a:ext cx="146304" cy="219456"/>
          </a:xfrm>
          <a:prstGeom prst="rightArrow">
            <a:avLst/>
          </a:prstGeom>
          <a:solidFill>
            <a:srgbClr val="FFB74D"/>
          </a:solidFill>
          <a:ln w="12700">
            <a:solidFill>
              <a:srgbClr val="FFB74D"/>
            </a:solidFill>
            <a:prstDash val="solid"/>
          </a:ln>
        </p:spPr>
      </p:sp>
      <p:sp>
        <p:nvSpPr>
          <p:cNvPr id="13" name="Shape 11"/>
          <p:cNvSpPr/>
          <p:nvPr/>
        </p:nvSpPr>
        <p:spPr>
          <a:xfrm>
            <a:off x="6035040" y="2331720"/>
            <a:ext cx="2560320" cy="1417320"/>
          </a:xfrm>
          <a:prstGeom prst="roundRect">
            <a:avLst>
              <a:gd name="adj" fmla="val 5161"/>
            </a:avLst>
          </a:prstGeom>
          <a:solidFill>
            <a:srgbClr val="1565C0"/>
          </a:solidFill>
          <a:ln w="9525">
            <a:solidFill>
              <a:srgbClr val="1565C0"/>
            </a:solidFill>
            <a:prstDash val="solid"/>
          </a:ln>
        </p:spPr>
      </p:sp>
      <p:sp>
        <p:nvSpPr>
          <p:cNvPr id="14" name="Text 12"/>
          <p:cNvSpPr txBox="1"/>
          <p:nvPr/>
        </p:nvSpPr>
        <p:spPr>
          <a:xfrm>
            <a:off x="6263640" y="2468880"/>
            <a:ext cx="2194560" cy="347472"/>
          </a:xfrm>
          <a:prstGeom prst="rect">
            <a:avLst/>
          </a:prstGeom>
          <a:noFill/>
          <a:ln/>
        </p:spPr>
        <p:txBody>
          <a:bodyPr wrap="square" lIns="0" tIns="0" rIns="0" bIns="0" rtlCol="0" anchor="ctr"/>
          <a:lstStyle/>
          <a:p>
            <a:pPr indent="0" marL="0">
              <a:buNone/>
            </a:pPr>
            <a:r>
              <a:rPr lang="en-US" sz="1700" b="1" dirty="0">
                <a:solidFill>
                  <a:schemeClr val="accent2"/>
                </a:solidFill>
              </a:rPr>
              <a:t>3  </a:t>
            </a:r>
            <a:pPr indent="0" marL="0">
              <a:buNone/>
            </a:pPr>
            <a:r>
              <a:rPr lang="en-US" sz="1700" b="1" dirty="0">
                <a:solidFill>
                  <a:schemeClr val="bg1"/>
                </a:solidFill>
              </a:rPr>
              <a:t>自動化</a:t>
            </a:r>
            <a:endParaRPr lang="en-US" sz="1700" dirty="0"/>
          </a:p>
        </p:txBody>
      </p:sp>
      <p:sp>
        <p:nvSpPr>
          <p:cNvPr id="15" name="Text 13"/>
          <p:cNvSpPr txBox="1"/>
          <p:nvPr/>
        </p:nvSpPr>
        <p:spPr>
          <a:xfrm>
            <a:off x="6263640" y="2880360"/>
            <a:ext cx="2148840" cy="777240"/>
          </a:xfrm>
          <a:prstGeom prst="rect">
            <a:avLst/>
          </a:prstGeom>
          <a:noFill/>
          <a:ln/>
        </p:spPr>
        <p:txBody>
          <a:bodyPr wrap="square" lIns="0" tIns="0" rIns="0" bIns="0" rtlCol="0" anchor="t"/>
          <a:lstStyle/>
          <a:p>
            <a:pPr indent="0" marL="0">
              <a:lnSpc>
                <a:spcPct val="115000"/>
              </a:lnSpc>
              <a:buNone/>
            </a:pPr>
            <a:r>
              <a:rPr lang="en-US" sz="1200" dirty="0">
                <a:solidFill>
                  <a:schemeClr val="bg1"/>
                </a:solidFill>
              </a:rPr>
              <a:t>集まった知識で、MAPE-K のループが自分で回る</a:t>
            </a:r>
            <a:endParaRPr lang="en-US" sz="1200" dirty="0"/>
          </a:p>
        </p:txBody>
      </p:sp>
      <p:sp>
        <p:nvSpPr>
          <p:cNvPr id="16" name="Text 14"/>
          <p:cNvSpPr txBox="1"/>
          <p:nvPr/>
        </p:nvSpPr>
        <p:spPr>
          <a:xfrm>
            <a:off x="548640" y="4023360"/>
            <a:ext cx="8046720" cy="411480"/>
          </a:xfrm>
          <a:prstGeom prst="rect">
            <a:avLst/>
          </a:prstGeom>
          <a:noFill/>
          <a:ln/>
        </p:spPr>
        <p:txBody>
          <a:bodyPr wrap="square" lIns="0" tIns="0" rIns="0" bIns="0" rtlCol="0" anchor="ctr"/>
          <a:lstStyle/>
          <a:p>
            <a:pPr indent="0" marL="0">
              <a:buNone/>
            </a:pPr>
            <a:r>
              <a:rPr lang="en-US" sz="1400" b="1" dirty="0">
                <a:solidFill>
                  <a:schemeClr val="accent2"/>
                </a:solidFill>
              </a:rPr>
              <a:t>お願い　</a:t>
            </a:r>
            <a:pPr indent="0" marL="0">
              <a:buNone/>
            </a:pPr>
            <a:r>
              <a:rPr lang="en-US" sz="1400" dirty="0">
                <a:solidFill>
                  <a:schemeClr val="bg1"/>
                </a:solidFill>
              </a:rPr>
              <a:t>AIに聞かれたら、判断の理由もひとこと添えてください。それが会社の知識になります。</a:t>
            </a:r>
            <a:endParaRPr lang="en-US" sz="1400" dirty="0"/>
          </a:p>
        </p:txBody>
      </p:sp>
    </p:spTree>
  </p:cSld>
  <p:clrMapOvr>
    <a:masterClrMapping/>
  </p:clrMapOvr>
</p:sld>
</file>

<file path=ppt/theme/theme1.xml><?xml version="1.0" encoding="utf-8"?>
<a:theme xmlns:a="http://schemas.openxmlformats.org/drawingml/2006/main" name="NOK Navy">
  <a:themeElements>
    <a:clrScheme name="NOK Navy">
      <a:dk1>
        <a:srgbClr val="0F2B4C"/>
      </a:dk1>
      <a:lt1>
        <a:srgbClr val="FFFFFF"/>
      </a:lt1>
      <a:dk2>
        <a:srgbClr val="1B3A5E"/>
      </a:dk2>
      <a:lt2>
        <a:srgbClr val="EEF4FB"/>
      </a:lt2>
      <a:accent1>
        <a:srgbClr val="1565C0"/>
      </a:accent1>
      <a:accent2>
        <a:srgbClr val="FFB74D"/>
      </a:accent2>
      <a:accent3>
        <a:srgbClr val="9CC3EC"/>
      </a:accent3>
      <a:accent4>
        <a:srgbClr val="42A5F5"/>
      </a:accent4>
      <a:accent5>
        <a:srgbClr val="66BB6A"/>
      </a:accent5>
      <a:accent6>
        <a:srgbClr val="5A6B80"/>
      </a:accent6>
      <a:hlink>
        <a:srgbClr val="1565C0"/>
      </a:hlink>
      <a:folHlink>
        <a:srgbClr val="5A6B80"/>
      </a:folHlink>
    </a:clrScheme>
    <a:fontScheme name="NOK Navy">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株式会社ノック</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AIの使い方 — エージェントで人事部をつくった話</dc:title>
  <dc:subject>PptxGenJS Presentation</dc:subject>
  <dc:creator>株式会社ノック</dc:creator>
  <cp:lastModifiedBy>株式会社ノック</cp:lastModifiedBy>
  <cp:revision>1</cp:revision>
  <dcterms:created xsi:type="dcterms:W3CDTF">2026-10-15T22:07:53Z</dcterms:created>
  <dcterms:modified xsi:type="dcterms:W3CDTF">2026-10-15T22:07:53Z</dcterms:modified>
</cp:coreProperties>
</file>